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46a6539687404b" /><Relationship Type="http://schemas.openxmlformats.org/officeDocument/2006/relationships/extended-properties" Target="/docProps/app.xml" Id="Rf2ffc1e4de60429e" /><Relationship Type="http://schemas.openxmlformats.org/officeDocument/2006/relationships/officeDocument" Target="/ppt/presentation.xml" Id="R51586de3c7db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dd3515d55431d"/>
  </p:sldMasterIdLst>
  <p:notesMasterIdLst>
    <p:notesMasterId xmlns:r="http://schemas.openxmlformats.org/officeDocument/2006/relationships" r:id="R375ce0183ea24c7c"/>
  </p:notesMasterIdLst>
  <p:sldIdLst>
    <p:sldId xmlns:r="http://schemas.openxmlformats.org/officeDocument/2006/relationships" id="256" r:id="Racf733f27a4d4040"/>
    <p:sldId xmlns:r="http://schemas.openxmlformats.org/officeDocument/2006/relationships" id="257" r:id="Rdca4fc66b4cf40a9"/>
    <p:sldId xmlns:r="http://schemas.openxmlformats.org/officeDocument/2006/relationships" id="258" r:id="R04b618c3b29446ba"/>
    <p:sldId xmlns:r="http://schemas.openxmlformats.org/officeDocument/2006/relationships" id="259" r:id="Rc89efaa169fe4bf4"/>
    <p:sldId xmlns:r="http://schemas.openxmlformats.org/officeDocument/2006/relationships" id="260" r:id="Rbe960d0f09634694"/>
    <p:sldId xmlns:r="http://schemas.openxmlformats.org/officeDocument/2006/relationships" id="261" r:id="R2296252a0a984f03"/>
    <p:sldId xmlns:r="http://schemas.openxmlformats.org/officeDocument/2006/relationships" id="262" r:id="R4ca9b5fe347d4e56"/>
    <p:sldId xmlns:r="http://schemas.openxmlformats.org/officeDocument/2006/relationships" id="263" r:id="Rf6baa5e766314aa3"/>
    <p:sldId xmlns:r="http://schemas.openxmlformats.org/officeDocument/2006/relationships" id="264" r:id="Reba15f1aeefa42cf"/>
    <p:sldId xmlns:r="http://schemas.openxmlformats.org/officeDocument/2006/relationships" id="265" r:id="R7f069388f0484e10"/>
    <p:sldId xmlns:r="http://schemas.openxmlformats.org/officeDocument/2006/relationships" id="266" r:id="R3418c1953529472d"/>
    <p:sldId xmlns:r="http://schemas.openxmlformats.org/officeDocument/2006/relationships" id="267" r:id="R9ebfa80f177c4f02"/>
  </p:sldIdLst>
  <p:sldSz cx="12192000" cy="6858000"/>
  <p:notesSz cx="6858000" cy="9144000"/>
  <p:defaultTextStyle>
    <a:lvl1pPr xmlns:a="http://schemas.openxmlformats.org/drawingml/2006/main" marL="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df7bc9de474ccf" /><Relationship Type="http://schemas.openxmlformats.org/officeDocument/2006/relationships/slideMaster" Target="/ppt/slideMasters/slideMaster1.xml" Id="R053dd3515d55431d" /><Relationship Type="http://schemas.openxmlformats.org/officeDocument/2006/relationships/notesMaster" Target="/ppt/notesMasters/notesMaster1.xml" Id="R375ce0183ea24c7c" /><Relationship Type="http://schemas.openxmlformats.org/officeDocument/2006/relationships/presProps" Target="/ppt/presProps.xml" Id="R8d70420b19db4c06" /><Relationship Type="http://schemas.openxmlformats.org/officeDocument/2006/relationships/viewProps" Target="/ppt/viewProps.xml" Id="R2e5eb6b1ad1d4054" /><Relationship Type="http://schemas.openxmlformats.org/officeDocument/2006/relationships/tableStyles" Target="/ppt/tableStyles.xml" Id="Re29142e7776a40c5" /><Relationship Type="http://schemas.openxmlformats.org/officeDocument/2006/relationships/slide" Target="/ppt/slides/slide1.xml" Id="Racf733f27a4d4040" /><Relationship Type="http://schemas.openxmlformats.org/officeDocument/2006/relationships/slide" Target="/ppt/slides/slide2.xml" Id="Rdca4fc66b4cf40a9" /><Relationship Type="http://schemas.openxmlformats.org/officeDocument/2006/relationships/slide" Target="/ppt/slides/slide3.xml" Id="R04b618c3b29446ba" /><Relationship Type="http://schemas.openxmlformats.org/officeDocument/2006/relationships/slide" Target="/ppt/slides/slide4.xml" Id="Rc89efaa169fe4bf4" /><Relationship Type="http://schemas.openxmlformats.org/officeDocument/2006/relationships/slide" Target="/ppt/slides/slide5.xml" Id="Rbe960d0f09634694" /><Relationship Type="http://schemas.openxmlformats.org/officeDocument/2006/relationships/slide" Target="/ppt/slides/slide6.xml" Id="R2296252a0a984f03" /><Relationship Type="http://schemas.openxmlformats.org/officeDocument/2006/relationships/slide" Target="/ppt/slides/slide7.xml" Id="R4ca9b5fe347d4e56" /><Relationship Type="http://schemas.openxmlformats.org/officeDocument/2006/relationships/slide" Target="/ppt/slides/slide8.xml" Id="Rf6baa5e766314aa3" /><Relationship Type="http://schemas.openxmlformats.org/officeDocument/2006/relationships/slide" Target="/ppt/slides/slide9.xml" Id="Reba15f1aeefa42cf" /><Relationship Type="http://schemas.openxmlformats.org/officeDocument/2006/relationships/slide" Target="/ppt/slides/slide10.xml" Id="R7f069388f0484e10" /><Relationship Type="http://schemas.openxmlformats.org/officeDocument/2006/relationships/slide" Target="/ppt/slides/slide11.xml" Id="R3418c1953529472d" /><Relationship Type="http://schemas.openxmlformats.org/officeDocument/2006/relationships/slide" Target="/ppt/slides/slide12.xml" Id="R9ebfa80f177c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cbddd1406d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03e6fda4c493d" /><Relationship Type="http://schemas.openxmlformats.org/officeDocument/2006/relationships/notesMaster" Target="/ppt/notesMasters/notesMaster1.xml" Id="Rf014638b6465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8b54a4bcc94646" /><Relationship Type="http://schemas.openxmlformats.org/officeDocument/2006/relationships/notesMaster" Target="/ppt/notesMasters/notesMaster1.xml" Id="Re0cea863c9c0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68a41074c425b" /><Relationship Type="http://schemas.openxmlformats.org/officeDocument/2006/relationships/notesMaster" Target="/ppt/notesMasters/notesMaster1.xml" Id="R93a2882945f1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65e11d5d54fb5" /><Relationship Type="http://schemas.openxmlformats.org/officeDocument/2006/relationships/notesMaster" Target="/ppt/notesMasters/notesMaster1.xml" Id="R168d1c114a33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5b06c0d894c7d" /><Relationship Type="http://schemas.openxmlformats.org/officeDocument/2006/relationships/notesMaster" Target="/ppt/notesMasters/notesMaster1.xml" Id="R58e7286c9c5845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39fa047fda455a" /><Relationship Type="http://schemas.openxmlformats.org/officeDocument/2006/relationships/notesMaster" Target="/ppt/notesMasters/notesMaster1.xml" Id="R3ed35b3d51be43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abfd94b9bb4c04" /><Relationship Type="http://schemas.openxmlformats.org/officeDocument/2006/relationships/notesMaster" Target="/ppt/notesMasters/notesMaster1.xml" Id="R6b56050c881a43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e5bbae90394f69" /><Relationship Type="http://schemas.openxmlformats.org/officeDocument/2006/relationships/notesMaster" Target="/ppt/notesMasters/notesMaster1.xml" Id="R0abc90c332154d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3444fb89804ea4" /><Relationship Type="http://schemas.openxmlformats.org/officeDocument/2006/relationships/notesMaster" Target="/ppt/notesMasters/notesMaster1.xml" Id="R339a7f98acfc42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e4c6fb3bd94801" /><Relationship Type="http://schemas.openxmlformats.org/officeDocument/2006/relationships/notesMaster" Target="/ppt/notesMasters/notesMaster1.xml" Id="R81f8513bf69945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219d55ba8f4091" /><Relationship Type="http://schemas.openxmlformats.org/officeDocument/2006/relationships/notesMaster" Target="/ppt/notesMasters/notesMaster1.xml" Id="R6138200461dc42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e955f31eaa4f43" /><Relationship Type="http://schemas.openxmlformats.org/officeDocument/2006/relationships/notesMaster" Target="/ppt/notesMasters/notesMaster1.xml" Id="Raf2d7fc8b8f3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硬件产品矩阵与上市节奏依据用户提供的《硬件矩阵规划表》参考图整理。Q4节点以用户本次更新的计划为准。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Roadmap依据用户提供的规划表参考图及本次明确的10月至12月计划整理。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ce432db804e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3f442f8364e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a0053445e41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711f872f148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2ddfc180641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6544834f84f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b6295978d40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5547b58d944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09775faee4e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4f1ab27604e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fa5ce4a684d8e" /></Relationships>
</file>

<file path=ppt/slideLayouts/slideLayout1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17230-0BA7-4A7B-9808-4F23152DB2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0B1C2B-1699-42EB-825C-FE3670E04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74ADA3-4D43-403A-95C8-21C00C88F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F99851-E783-4379-ACFA-3ECC8B294E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6E8A14-5803-47FC-8BE3-5D11DE4D9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DC587FC-379F-4AD1-8E9F-C3F80D53B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82B2CFD-2276-4041-A89F-28AE8C8FE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CEB4D0-FB33-409C-8113-E639EBBE9C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75693F-77AF-4270-AC91-6D1BD2578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0F261-FEE1-46DE-A36E-C221D51D9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标题 1">
            <a:extLst xmlns:a="http://schemas.openxmlformats.org/drawingml/2006/main">
              <a:ext uri="{FF2B5EF4-FFF2-40B4-BE49-F238E27FC236}">
                <a16:creationId xmlns:a16="http://schemas.microsoft.com/office/drawing/2014/main" id="{E37CF83A-5A35-4745-9D62-4DD8579F8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B16BBE-A0AE-4A6F-80B9-56C9403D8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2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1DF1F2-8120-48D8-A90B-3245E6BD4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332220F-4EDE-4542-A6D4-119580CD14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87ADEE-FFD8-49B1-A345-B2D04C6E0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D52254DA-7F45-4738-9CEC-A3B48890F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EEC63C-3102-459F-9BF4-0383200782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8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DBCF219-EE7B-4009-A9DC-3C499D70E9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B9A7496-4DA9-4AD1-85C3-E52F137C57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79E29A-0BBD-4C57-85E5-39D633258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16D0C2-D2EE-4D06-A285-1071D27C5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标题 1">
            <a:extLst xmlns:a="http://schemas.openxmlformats.org/drawingml/2006/main">
              <a:ext uri="{FF2B5EF4-FFF2-40B4-BE49-F238E27FC236}">
                <a16:creationId xmlns:a16="http://schemas.microsoft.com/office/drawing/2014/main" id="{510D62BF-C106-49F1-9B3B-E5544543A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4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5EF52C-141C-4853-AF3F-8297835C1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5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5F572A-EBFF-40CA-8330-13CF1FB1F5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6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C886FB4-F5D8-4373-83C9-432FBEF2FA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7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DB5C236-4A49-4F91-960B-B64878629D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8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4654401-F24F-4FF0-BB61-C7E9C3BB4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B3A2431-A198-46D3-B8CC-4880589B6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8F73D4F-C3A3-4672-A6C5-4C0E941EC3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EC306-A54C-4743-A9E4-BF7DF341F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3320F37-E981-4C1C-B1C3-6C0885752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8A18DAD-6FB1-4E52-808E-3F366B9B3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98C2191-337B-4713-BD14-774F529E14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DA058BE-4DF4-4C4A-9ED2-01EB596FDF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C91D11B-EE90-4726-B3AD-ECA48CCEF3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AF3BAD-3B29-4A41-8D94-72B5F1221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标题 1">
            <a:extLst xmlns:a="http://schemas.openxmlformats.org/drawingml/2006/main">
              <a:ext uri="{FF2B5EF4-FFF2-40B4-BE49-F238E27FC236}">
                <a16:creationId xmlns:a16="http://schemas.microsoft.com/office/drawing/2014/main" id="{BE91588E-3E22-4C20-A9C4-E398F58D9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B9D8D2-A45E-4AB0-B6B8-61C3795A07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3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EB0AD1-5E5B-4EA6-8255-BF02CA0BF3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95E8D9-CFBC-4F53-96B0-1F56D77C1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F21F98-0A8F-438B-9394-411C7930F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AD6BF0-027C-4E53-BBBC-E4F45EA30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标题 1">
            <a:extLst xmlns:a="http://schemas.openxmlformats.org/drawingml/2006/main">
              <a:ext uri="{FF2B5EF4-FFF2-40B4-BE49-F238E27FC236}">
                <a16:creationId xmlns:a16="http://schemas.microsoft.com/office/drawing/2014/main" id="{11D3A4BA-C77B-4CDD-99D1-A779B12B7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9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BAC954A-BC68-4BA1-9708-DAB16198DB2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0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80CFE2-C6C3-4220-9462-0233F7959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1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E9505-22D1-4A82-98B1-DC40A3D7C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67EED48-3ADE-491A-AD1C-FA55335758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1ADA8D-5677-4558-A8F1-025705AF1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12AC4188-C3B9-42E8-BA3E-028ED5125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6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DBC7E2-142E-4F21-877B-6679F44A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B3530-9CFD-4608-84BE-43134AFAD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EDC66B-3EF1-4902-A16B-CA828B606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A21C92-29B4-498F-BED4-2496E13166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4ECFC78-530F-42CF-88B8-D9E38653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5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AF5A528-A18D-4081-BF18-FCA09BF94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6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CAF1E-5AAE-414A-A410-509D0CBA4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34ECDA-A8DD-4F1A-AB9B-EE70D5B13E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D23E9F-7AFD-4062-98B5-63C829ED4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158968737b14a30" /><Relationship Type="http://schemas.openxmlformats.org/officeDocument/2006/relationships/theme" Target="/ppt/slideMasters/theme/theme2.xml" Id="R03ea99d73a374670" /><Relationship Type="http://schemas.openxmlformats.org/officeDocument/2006/relationships/slideLayout" Target="/ppt/slideLayouts/slideLayout1.xml" Id="R4f97e6f825384c83" /><Relationship Type="http://schemas.openxmlformats.org/officeDocument/2006/relationships/slideLayout" Target="/ppt/slideLayouts/slideLayout2.xml" Id="R10399ce0e02542ef" /><Relationship Type="http://schemas.openxmlformats.org/officeDocument/2006/relationships/slideLayout" Target="/ppt/slideLayouts/slideLayout3.xml" Id="R6474b4510ed048e6" /><Relationship Type="http://schemas.openxmlformats.org/officeDocument/2006/relationships/slideLayout" Target="/ppt/slideLayouts/slideLayout4.xml" Id="R6aa44f8a77d54a93" /><Relationship Type="http://schemas.openxmlformats.org/officeDocument/2006/relationships/slideLayout" Target="/ppt/slideLayouts/slideLayout5.xml" Id="R99cfb5b84fc048eb" /><Relationship Type="http://schemas.openxmlformats.org/officeDocument/2006/relationships/slideLayout" Target="/ppt/slideLayouts/slideLayout6.xml" Id="R0bbc3ca784724852" /><Relationship Type="http://schemas.openxmlformats.org/officeDocument/2006/relationships/slideLayout" Target="/ppt/slideLayouts/slideLayout7.xml" Id="R4a0d5f81fc9c44ed" /><Relationship Type="http://schemas.openxmlformats.org/officeDocument/2006/relationships/slideLayout" Target="/ppt/slideLayouts/slideLayout8.xml" Id="R259e489c3d5d468e" /><Relationship Type="http://schemas.openxmlformats.org/officeDocument/2006/relationships/slideLayout" Target="/ppt/slideLayouts/slideLayout9.xml" Id="R144838612f224c06" /><Relationship Type="http://schemas.openxmlformats.org/officeDocument/2006/relationships/slideLayout" Target="/ppt/slideLayouts/slideLayout10.xml" Id="R5fc425de8e3e4f49" /><Relationship Type="http://schemas.openxmlformats.org/officeDocument/2006/relationships/slideLayout" Target="/ppt/slideLayouts/slideLayout11.xml" Id="R4e655e8557df4f4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3367C53-C1EC-463D-BF31-19F1AF1B6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209AB-8A29-4617-BFD6-D27297E5A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DBA2F7-CDDC-4D73-8726-AD8DE1B1AF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396629-4EF5-4A3E-9017-24058368AD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65F013-8FEC-467D-B8C9-3D20AD7E77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8968737b14a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015" y="50800"/>
            <a:ext cx="1704283" cy="3270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7e6f825384c83"/>
    <p:sldLayoutId xmlns:r="http://schemas.openxmlformats.org/officeDocument/2006/relationships" id="2147483650" r:id="R10399ce0e02542ef"/>
    <p:sldLayoutId xmlns:r="http://schemas.openxmlformats.org/officeDocument/2006/relationships" id="2147483651" r:id="R6474b4510ed048e6"/>
    <p:sldLayoutId xmlns:r="http://schemas.openxmlformats.org/officeDocument/2006/relationships" id="2147483652" r:id="R6aa44f8a77d54a93"/>
    <p:sldLayoutId xmlns:r="http://schemas.openxmlformats.org/officeDocument/2006/relationships" id="2147483653" r:id="R99cfb5b84fc048eb"/>
    <p:sldLayoutId xmlns:r="http://schemas.openxmlformats.org/officeDocument/2006/relationships" id="2147483654" r:id="R0bbc3ca784724852"/>
    <p:sldLayoutId xmlns:r="http://schemas.openxmlformats.org/officeDocument/2006/relationships" id="2147483655" r:id="R4a0d5f81fc9c44ed"/>
    <p:sldLayoutId xmlns:r="http://schemas.openxmlformats.org/officeDocument/2006/relationships" id="2147483656" r:id="R259e489c3d5d468e"/>
    <p:sldLayoutId xmlns:r="http://schemas.openxmlformats.org/officeDocument/2006/relationships" id="2147483657" r:id="R144838612f224c06"/>
    <p:sldLayoutId xmlns:r="http://schemas.openxmlformats.org/officeDocument/2006/relationships" id="2147483658" r:id="R5fc425de8e3e4f49"/>
    <p:sldLayoutId xmlns:r="http://schemas.openxmlformats.org/officeDocument/2006/relationships" id="2147483659" r:id="R4e655e8557df4f46"/>
  </p:sldLayoutIdLst>
  <p:txStyles>
    <p:titleStyle>
      <a:lvl1pPr xmlns:a="http://schemas.openxmlformats.org/drawingml/2006/main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7ce547e104edd" /><Relationship Type="http://schemas.openxmlformats.org/officeDocument/2006/relationships/notesSlide" Target="/ppt/notesSlides/notesSlide1.xml" Id="R9fb152720366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97fdb25764eb5" /><Relationship Type="http://schemas.openxmlformats.org/officeDocument/2006/relationships/notesSlide" Target="/ppt/notesSlides/notesSlide2.xml" Id="R2afcf6de93c149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e9435996c401d" /><Relationship Type="http://schemas.openxmlformats.org/officeDocument/2006/relationships/notesSlide" Target="/ppt/notesSlides/notesSlide3.xml" Id="R69a67a355494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e3625e213c46c4" /><Relationship Type="http://schemas.openxmlformats.org/officeDocument/2006/relationships/chart" Target="/ppt/slides/charts/chart1.xml" Id="R97d97b6581314f2a" /><Relationship Type="http://schemas.openxmlformats.org/officeDocument/2006/relationships/notesSlide" Target="/ppt/notesSlides/notesSlide4.xml" Id="R2d0762c459c7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6bc3d2d1547d2" /><Relationship Type="http://schemas.openxmlformats.org/officeDocument/2006/relationships/notesSlide" Target="/ppt/notesSlides/notesSlide5.xml" Id="Ra96a3866e1c54d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7a1c4eb824433" /><Relationship Type="http://schemas.openxmlformats.org/officeDocument/2006/relationships/notesSlide" Target="/ppt/notesSlides/notesSlide6.xml" Id="R5af305cfd702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1b68533b8444f6" /><Relationship Type="http://schemas.openxmlformats.org/officeDocument/2006/relationships/notesSlide" Target="/ppt/notesSlides/notesSlide7.xml" Id="Rfc1f5fe751cf40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fd98c157648d5" /><Relationship Type="http://schemas.openxmlformats.org/officeDocument/2006/relationships/chart" Target="/ppt/slides/charts/chart2.xml" Id="R3412a723ee234bac" /><Relationship Type="http://schemas.openxmlformats.org/officeDocument/2006/relationships/notesSlide" Target="/ppt/notesSlides/notesSlide8.xml" Id="R6ab7208959ac42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7a96bcff244bee" /><Relationship Type="http://schemas.openxmlformats.org/officeDocument/2006/relationships/notesSlide" Target="/ppt/notesSlides/notesSlide9.xml" Id="Rb2389c8e170b41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263c9433b4e9b" /><Relationship Type="http://schemas.openxmlformats.org/officeDocument/2006/relationships/notesSlide" Target="/ppt/notesSlides/notesSlide10.xml" Id="R8a9cd22f70384e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12ea68a19a427e" /><Relationship Type="http://schemas.openxmlformats.org/officeDocument/2006/relationships/notesSlide" Target="/ppt/notesSlides/notesSlide11.xml" Id="R094b1caabf7344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7f4ba806a8404b" /><Relationship Type="http://schemas.openxmlformats.org/officeDocument/2006/relationships/notesSlide" Target="/ppt/notesSlides/notesSlide12.xml" Id="R3aacf160d6314b0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优化前</c:v>
          </c:tx>
          <c:spPr>
            <a:solidFill xmlns:a="http://schemas.openxmlformats.org/drawingml/2006/main">
              <a:srgbClr val="A7AFB5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30</c:v>
              </c:pt>
              <c:pt idx="1">
                <c:v>13</c:v>
              </c:pt>
              <c:pt idx="2">
                <c:v>30</c:v>
              </c:pt>
              <c:pt idx="3">
                <c:v>20</c:v>
              </c:pt>
            </c:numLit>
          </c:val>
        </c:ser>
        <c:ser>
          <c:idx val="1"/>
          <c:order val="1"/>
          <c:tx>
            <c:v>优化后</c:v>
          </c:tx>
          <c:spPr>
            <a:solidFill xmlns:a="http://schemas.openxmlformats.org/drawingml/2006/main">
              <a:srgbClr val="27814F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15</c:v>
              </c:pt>
              <c:pt idx="1">
                <c:v>9</c:v>
              </c:pt>
              <c:pt idx="2">
                <c:v>25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&quot;秒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0212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27814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0A6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55A4A"/>
              </a:solidFill>
            </c:spPr>
          </c:dPt>
          <c:cat>
            <c:strLit>
              <c:ptCount val="4"/>
              <c:pt idx="0">
                <c:v>小程序SDK接入</c:v>
              </c:pt>
              <c:pt idx="1">
                <c:v>配网流程</c:v>
              </c:pt>
              <c:pt idx="2">
                <c:v>联网流程</c:v>
              </c:pt>
              <c:pt idx="3">
                <c:v>数据上报</c:v>
              </c:pt>
            </c:strLit>
          </c:cat>
          <c:val>
            <c:numLit>
              <c:formatCode>0%</c:formatCode>
              <c:ptCount val="4"/>
              <c:pt idx="0">
                <c:v>0.6</c:v>
              </c:pt>
              <c:pt idx="1">
                <c:v>1</c:v>
              </c:pt>
              <c:pt idx="2">
                <c:v>1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FBC16-3F5A-4684-AE40-2896B3E0D3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  <a:p xmlns:a="http://schemas.openxmlformats.org/drawingml/2006/main">
            <a:pPr>
              <a:buNone/>
            </a:pPr>
            <a:r>
              <a:rPr sz="4000"/>
              <a:t>2026年8-9月</a:t>
            </a:r>
            <a:endParaRPr sz="4000"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24579E-4299-4E0B-A8BD-9276DD567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8453" y="5441294"/>
            <a:ext cx="9144000" cy="6149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Arial"/>
              <a:buNone/>
            </a:pPr>
            <a:r>
              <a:t>养娃乐教育科技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302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2D8115A-B0C9-4DB1-982F-42C521E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工作职责与季度工作全景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515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238625"/>
                <a:gridCol w="4657725"/>
              </a:tblGrid>
              <a:tr h="8191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工作领域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8-9月重点产出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AI玩偶端侧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硬件端侧功能开发、迭代与体验优化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核心功能上线，冷启动与对话专项优化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协同软件端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小程序能力建设与跨端协同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声纹功能设计，涂鸦SDK接入60%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产品规划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Roadmap、产品矩阵与竞品调研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完成硬件矩阵、UJM与智能硬件调研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项目交付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联调测试、版本发布与跨团队推进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推进V5、直播、NFC项目，发布4个固件版本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22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055915BC-BE81-4BEB-AB03-03D22DEC4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 核心终端功能上线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38200" y="1762125"/>
          <a:ext xmlns:a="http://schemas.openxmlformats.org/drawingml/2006/main" cx="10515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048250"/>
                <a:gridCol w="3943350"/>
              </a:tblGrid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上线内容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用户价值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内容资源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接入贝瓦上万首曲库资源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扩充儿童音频内容供给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联网能力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支持时政新闻、百科、天气查询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提升实时信息获取能力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连接稳定性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弱网提示、自动重连、程序看门狗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降低断网与程序异常影响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主动交互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开机沉默至浅睡眠前5分钟自动攀谈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减少冷场，增强陪伴感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版本交付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4.8.6、4.8.8、4.9.1、4.9.6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完成测试、验收、灰度与全量发布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501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71D8F226-533B-4B86-ADE4-CFB59B2FF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1.1 冷启动优化：关键场景均明显提速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1000125" y="1762125"/>
          <a:ext xmlns:a="http://schemas.openxmlformats.org/drawingml/2006/main" cx="9906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d97b6581314f2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060B-F758-42A8-9608-CF5A879F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WiFi开机对话由30秒降至15秒，提速50%；4G深睡唤醒由20秒降至15秒，提速25%</a:t>
            </a:r>
          </a:p>
        </p:txBody>
      </p:sp>
    </p:spTree>
    <p:extLst>
      <p:ext uri="{BB962C8B-B14F-4D97-AF65-F5344CB8AC3E}">
        <p14:creationId xmlns:p14="http://schemas.microsoft.com/office/powerpoint/2010/main" val="13445621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5F7C1BAC-11B9-45CA-96E5-49933279E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1.2 对话速度优化专项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9E95F-3F1A-443D-A644-66D15369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围绕“听不清”和“响应慢”两类问题，缩短处理链路并提高端侧稳定性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38200" y="2143125"/>
          <a:ext xmlns:a="http://schemas.openxmlformats.org/drawingml/2006/main" cx="105156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810250"/>
                <a:gridCol w="2990850"/>
              </a:tblGrid>
              <a:tr h="7334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优化层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具体调整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固件端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优化收音阈值，调整唤醒词逻辑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提升收音与唤醒稳定性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上下文策略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召回轮次由20轮调整为5轮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处理轮次减少75%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提示词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人格生成提示词优化；约4000字符压缩至约600字符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提示词长度减少约85%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服务端链路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意图路由增加前置判断，优化资源预加载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减少无效处理与等待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92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2. 功能设计与产品调研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858000"/>
                <a:gridCol w="1847850"/>
              </a:tblGrid>
              <a:tr h="632732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阶段产出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声纹识别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完成玩偶端与小程序功能、需求设计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待开发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硬件产品矩阵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完成机芯、玩偶版本及其他设备规划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UJM分析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完成fuzozo与小乐用户旅程对比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智能硬件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完成AI眼镜、智能耳机竞品体验分析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机器人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完成调研文档撰写并参与相关展会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对话竞品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完成芷间智伴、涂鸦、fuzozo测试记录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 重点项目进展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238625"/>
                <a:gridCol w="2190750"/>
                <a:gridCol w="2657475"/>
              </a:tblGrid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</a:rPr>
                        <a:t>8-9月进展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</a:rPr>
                        <a:t>下一步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福瑞达V5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PO主导联调，每日跟踪；0904前完成固件提测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因直播及线上版本优化暂缓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10月重启内测并完成验证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直播支持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设备调试、提示词、人设风格、示例对话测试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持续复盘优化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沉淀稳定的人设与对话方案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NFC故事阅读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完成制卡、打样、数据写入与测试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已完成打样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推进内容与交互测试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涂鸦云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小程序SDK接入60%；配网、联网流程打通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数据上报未打通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124"/>
                          </a:solidFill>
                        </a:rPr>
                        <a:t>10月完成对接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3.1 涂鸦云接入进展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1190625" y="1857375"/>
          <a:ext xmlns:a="http://schemas.openxmlformats.org/drawingml/2006/main" cx="952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12a723ee234bac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AE845-789C-45BE-95CB-A696774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当前关键阻塞点：数据上报链路尚未打通；目标在10月完成整体对接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4. 版本管理与发版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71625"/>
                <a:gridCol w="1571625"/>
                <a:gridCol w="1571625"/>
                <a:gridCol w="2000250"/>
                <a:gridCol w="1990725"/>
              </a:tblGrid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固件版本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测试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验收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灰度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全量发布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公告传达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4.8.6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4.8.8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4.9.1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4.9.6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F66EE-C5DB-4140-9C98-B23D877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4个版本均完成测试、验收、灰度、全量发布及版本公告闭环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5. 硬件产品矩阵规划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666875"/>
          <a:ext xmlns:a="http://schemas.openxmlformats.org/drawingml/2006/main" cx="105156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3714750"/>
                <a:gridCol w="1952625"/>
                <a:gridCol w="1800225"/>
              </a:tblGrid>
              <a:tr h="646339">
                <a:tc>
                  <a:txBody>
                    <a:bodyPr/>
                    <a:lstStyle/>
                    <a:p>
                      <a:pPr algn="ctr"/>
                      <a:r>
                        <a:rPr sz="1163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3" b="1">
                          <a:solidFill>
                            <a:srgbClr val="FFFFFF"/>
                          </a:solidFill>
                        </a:rPr>
                        <a:t>产品/版本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3" b="1">
                          <a:solidFill>
                            <a:srgbClr val="FFFFFF"/>
                          </a:solidFill>
                        </a:rPr>
                        <a:t>核心升级方向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3" b="1">
                          <a:solidFill>
                            <a:srgbClr val="FFFFFF"/>
                          </a:solidFill>
                        </a:rPr>
                        <a:t>Q4节点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3" b="1">
                          <a:solidFill>
                            <a:srgbClr val="FFFFFF"/>
                          </a:solidFill>
                        </a:rPr>
                        <a:t>参考上市节奏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玩偶本体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小乐V2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NFC、主动攀谈、多人格、多音色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11月上线并优化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11月中旬至12月中旬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玩偶本体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小乐V3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肢体动作、触摸、声纹、NFC换装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12月完成打样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12月中旬至次年1月底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便携系列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小乐包挂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设备记忆、定位查找、触摸反馈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10月完成打样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11月中旬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便携系列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其他IP包挂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IP包挂及来电方案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11月完成打样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11月中旬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探索系列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吧唧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4G对话、跨设备记忆、定位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11月打样，方案二选一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12月中旬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</a:tr>
              <a:tr h="64633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探索系列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AI放大镜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图像回传、多语言对话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12月推进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02124"/>
                          </a:solidFill>
                        </a:rPr>
                        <a:t>次年1月底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6. 四季度 Roadmap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333750"/>
                <a:gridCol w="2952750"/>
                <a:gridCol w="280035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月份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硬件产品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软件与平台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关键验收点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10月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小乐包挂打样；V5机芯进入打样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完成涂鸦对接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V5机芯验证完成；涂鸦数据链路打通</a:t>
                      </a:r>
                    </a:p>
                  </a:txBody>
                  <a:tcPr marL="91440" marR="91440" marT="45720" marB="45720">
                    <a:solidFill>
                      <a:srgbClr val="EAF5FA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11月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其他款包挂打样；吧唧打样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小乐V2上线与功能优化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吧唧在涂鸦与定制方案中完成选型</a:t>
                      </a:r>
                    </a:p>
                  </a:txBody>
                  <a:tcPr marL="91440" marR="91440" marT="45720" marB="45720">
                    <a:solidFill>
                      <a:srgbClr val="EFF8F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12月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AI放大镜推进；小乐V3打样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V2小乐功能优化升级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124"/>
                          </a:solidFill>
                        </a:rPr>
                        <a:t>V3完成肢体动作与触摸能力验证</a:t>
                      </a:r>
                    </a:p>
                  </a:txBody>
                  <a:tcPr marL="91440" marR="91440" marT="45720" marB="45720">
                    <a:solidFill>
                      <a:srgbClr val="F6F0FA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3CFBC-3559-475F-88BA-5E957E96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主线：硬件打样与验证并行推进，小乐版本能力持续迭代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7. 四季度工作思路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4400550"/>
            <a:ext cx="10515600" cy="1619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硬件、固件、服务端与小程序多端协同，提前识别接口和排期依赖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线上版本问题优先保障，建立快速定位、验证和回滚机制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以月度交付节点为准，持续跟踪打样、验证、上线和复盘闭环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EA130-D9B5-4F69-B34A-17ECABA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项目推进机制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515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133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目标拆解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方案与排期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联调测试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灰度验证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</a:rPr>
                        <a:t>复盘沉淀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按月明确交付物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绑定负责人和依赖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每日跟踪问题清单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分批验证核心体验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</a:rPr>
                        <a:t>更新Roadmap与规范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AB9BC-9932-47A5-9803-703D92AA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重点关注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2026-09-30T06:36:37.5910000Z</dcterms:created>
  <dcterms:modified xsi:type="dcterms:W3CDTF">2026-09-30T06:36:37.5910000Z</dcterms:modified>
</coreProperties>
</file>