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 type="screen16x9"/>
  <p:notesSz cx="6858000" cy="9144000"/>
  <p:defaultTextStyle>
    <a:lvl1pPr marL="0" lvl="0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/>
      </a:defRPr>
    </a:lvl1pPr>
    <a:lvl2pPr marL="457200" lvl="1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/>
      </a:defRPr>
    </a:lvl2pPr>
    <a:lvl3pPr marL="914400" lvl="2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/>
      </a:defRPr>
    </a:lvl3pPr>
    <a:lvl4pPr marL="1371600" lvl="3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/>
      </a:defRPr>
    </a:lvl4pPr>
    <a:lvl5pPr marL="1828800" lvl="4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/>
      </a:defRPr>
    </a:lvl5pPr>
    <a:lvl6pPr marL="2286000" lvl="5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/>
      </a:defRPr>
    </a:lvl6pPr>
    <a:lvl7pPr marL="2743200" lvl="6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/>
      </a:defRPr>
    </a:lvl7pPr>
    <a:lvl8pPr marL="3200400" lvl="7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/>
      </a:defRPr>
    </a:lvl8pPr>
    <a:lvl9pPr marL="3657600" lvl="8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/>
              <a:t>单击此处编辑母版副标题样式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0F7DC6A6-BF1E-4CE5-B3E6-718B8EA0B82A}" type="datetime1">
              <a:rPr lang="zh-CN" altLang="en-US"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FC705DF-EB6A-4429-A9CF-8086C29D54D9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10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7B03108F-6D01-401F-BB83-A4EE273EE035}" type="datetime1">
              <a:rPr lang="zh-CN" altLang="en-US"/>
            </a:fld>
            <a:endParaRPr lang="zh-CN"/>
          </a:p>
        </p:txBody>
      </p:sp>
      <p:sp>
        <p:nvSpPr>
          <p:cNvPr id="11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12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A18DFAB-279D-45FB-8988-01B47F34F95A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22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8D5B006A-3E28-4231-AF04-14767498E664}" type="datetime1">
              <a:rPr lang="zh-CN" altLang="en-US"/>
            </a:fld>
            <a:endParaRPr lang="zh-CN"/>
          </a:p>
        </p:txBody>
      </p:sp>
      <p:sp>
        <p:nvSpPr>
          <p:cNvPr id="23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24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8B94FA0-F740-4CDC-A935-5AEA919A98DA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7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28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29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A1F3BCCF-927F-4C14-9052-F5177C3C439D}" type="datetime1">
              <a:rPr lang="zh-CN" altLang="en-US"/>
            </a:fld>
            <a:endParaRPr lang="zh-CN"/>
          </a:p>
        </p:txBody>
      </p:sp>
      <p:sp>
        <p:nvSpPr>
          <p:cNvPr id="30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31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08259AF-2A25-452C-AA5F-7B080E8C5A7E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35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36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37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38" name="日期占位符 6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E19FF268-CF0C-4595-A6A8-A0B1FC2FEB42}" type="datetime1">
              <a:rPr lang="zh-CN" altLang="en-US"/>
            </a:fld>
            <a:endParaRPr lang="zh-CN"/>
          </a:p>
        </p:txBody>
      </p:sp>
      <p:sp>
        <p:nvSpPr>
          <p:cNvPr id="39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40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3A90A56-B7DA-460C-8F46-95BFAF0AF95F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4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E05E0E50-3259-4429-AAEB-7BA10F2285FC}" type="datetime1">
              <a:rPr lang="zh-CN" altLang="en-US"/>
            </a:fld>
            <a:endParaRPr lang="zh-CN"/>
          </a:p>
        </p:txBody>
      </p:sp>
      <p:sp>
        <p:nvSpPr>
          <p:cNvPr id="4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4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2178EC5-58A4-4F44-B83C-34BE3E218ABE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03EF5456-EA9D-47AD-816E-BBFCE6D3FB5C}" type="datetime1">
              <a:rPr lang="zh-CN" altLang="en-US"/>
            </a:fld>
            <a:endParaRPr lang="zh-CN"/>
          </a:p>
        </p:txBody>
      </p:sp>
      <p:sp>
        <p:nvSpPr>
          <p:cNvPr id="48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49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3199BA4-F8C4-48F6-BF3D-6D4BD834E815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53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54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BDD0B665-21F2-4210-A0AB-1FF516ABB0EC}" type="datetime1">
              <a:rPr lang="zh-CN" altLang="en-US"/>
            </a:fld>
            <a:endParaRPr lang="zh-CN"/>
          </a:p>
        </p:txBody>
      </p:sp>
      <p:sp>
        <p:nvSpPr>
          <p:cNvPr id="55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56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3120986-D9F8-450A-8E8A-7B53A97B66E9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60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61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4E233BD8-DB7E-4E6E-9456-6D1E77C88269}" type="datetime1">
              <a:rPr lang="zh-CN" altLang="en-US"/>
            </a:fld>
            <a:endParaRPr lang="zh-CN"/>
          </a:p>
        </p:txBody>
      </p:sp>
      <p:sp>
        <p:nvSpPr>
          <p:cNvPr id="62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63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47CCC7F-E1A2-469B-A337-764C3DF0731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66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67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9772B07E-4E44-4E95-89AF-F1EF6F4CC7EC}" type="datetime1">
              <a:rPr lang="zh-CN" altLang="en-US"/>
            </a:fld>
            <a:endParaRPr lang="zh-CN"/>
          </a:p>
        </p:txBody>
      </p:sp>
      <p:sp>
        <p:nvSpPr>
          <p:cNvPr id="68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69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0D47AF7-089F-4725-8B45-DEA8A59F6C62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5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16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17AA1729-FFEC-4670-BE57-9BB1B6CF1583}" type="datetime1">
              <a:rPr lang="zh-CN" altLang="en-US"/>
            </a:fld>
            <a:endParaRPr 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7AACFD0-6D64-47CD-A483-D6FD45307366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ADBE2-30DF-480B-A5CC-C216012A8DE2}" type="datetime1">
              <a:rPr lang="zh-CN" altLang="en-US"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9DED9-3562-4003-9ED4-F9F7C2DA97F0}" type="slidenum">
              <a:rPr lang="zh-CN"/>
            </a:fld>
            <a:endParaRPr 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98015" y="50800"/>
            <a:ext cx="1704283" cy="3270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lvl="0" algn="l" defTabSz="914400">
        <a:lnSpc>
          <a:spcPct val="13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90204"/>
          <a:ea typeface="微软雅黑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Arial" panose="020B0604020202090204"/>
          <a:ea typeface="微软雅黑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Arial" panose="020B0604020202090204"/>
          <a:ea typeface="微软雅黑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Arial" panose="020B0604020202090204"/>
          <a:ea typeface="微软雅黑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b="1">
                <a:solidFill>
                  <a:srgbClr val="277C4F">
                    <a:alpha val="100000"/>
                  </a:srgbClr>
                </a:solidFill>
              </a:rPr>
              <a:t>季度工作汇报</a:t>
            </a:r>
            <a:endParaRPr lang="zh-CN" b="1">
              <a:solidFill>
                <a:srgbClr val="277C4F">
                  <a:alpha val="100000"/>
                </a:srgbClr>
              </a:solidFill>
            </a:endParaRPr>
          </a:p>
          <a:p>
            <a:pPr>
              <a:buNone/>
            </a:pPr>
            <a:r>
              <a:rPr lang="en-US" sz="4000"/>
              <a:t>2026</a:t>
            </a:r>
            <a:r>
              <a:rPr lang="zh-CN" sz="4000"/>
              <a:t>年</a:t>
            </a:r>
            <a:r>
              <a:rPr lang="en-US" altLang="zh-CN" sz="4000"/>
              <a:t>9</a:t>
            </a:r>
            <a:r>
              <a:rPr lang="zh-CN" sz="4000"/>
              <a:t>月</a:t>
            </a:r>
            <a:endParaRPr lang="zh-CN" sz="40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38453" y="5441294"/>
            <a:ext cx="9144000" cy="614941"/>
          </a:xfrm>
        </p:spPr>
        <p:txBody>
          <a:bodyPr>
            <a:normAutofit/>
          </a:bodyPr>
          <a:lstStyle/>
          <a:p>
            <a:pPr>
              <a:buFont typeface="Arial" panose="020B0604020202090204" pitchFamily="34" charset="0"/>
              <a:buNone/>
            </a:pPr>
            <a:r>
              <a:rPr lang="zh-CN"/>
              <a:t>养娃乐教育科技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 b="1">
                <a:solidFill>
                  <a:srgbClr val="277C4F">
                    <a:alpha val="100000"/>
                  </a:srgbClr>
                </a:solidFill>
              </a:rPr>
              <a:t>部门工作职责</a:t>
            </a:r>
            <a:endParaRPr lang="zh-CN" b="1">
              <a:solidFill>
                <a:srgbClr val="277C4F">
                  <a:alpha val="100000"/>
                </a:srgbClr>
              </a:solidFill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838200" y="1839020"/>
            <a:ext cx="10515600" cy="4351338"/>
          </a:xfrm>
        </p:spPr>
        <p:txBody>
          <a:bodyPr>
            <a:normAutofit/>
          </a:bodyPr>
          <a:lstStyle/>
          <a:p>
            <a:pPr>
              <a:buFont typeface="Arial" panose="020B0604020202090204" pitchFamily="34" charset="0"/>
              <a:buChar char="•"/>
            </a:pPr>
            <a:r>
              <a:rPr lang="zh-CN"/>
              <a:t>部门核心职责</a:t>
            </a:r>
            <a:endParaRPr lang="zh-CN"/>
          </a:p>
          <a:p>
            <a:pPr>
              <a:buFont typeface="Arial" panose="020B0604020202090204" pitchFamily="34" charset="0"/>
              <a:buChar char="•"/>
            </a:pPr>
            <a:r>
              <a:rPr lang="zh-CN"/>
              <a:t>服务对象是谁（为谁提供价值）</a:t>
            </a:r>
            <a:endParaRPr lang="zh-CN"/>
          </a:p>
          <a:p>
            <a:pPr>
              <a:buFont typeface="Arial" panose="020B0604020202090204" pitchFamily="34" charset="0"/>
              <a:buChar char="•"/>
            </a:pPr>
            <a:r>
              <a:rPr lang="zh-CN"/>
              <a:t>核心产出物（如何提供价值）</a:t>
            </a:r>
            <a:endParaRPr lang="zh-CN"/>
          </a:p>
          <a:p>
            <a:pPr>
              <a:buFont typeface="Arial" panose="020B0604020202090204" pitchFamily="34" charset="0"/>
              <a:buChar char="•"/>
            </a:pPr>
            <a:r>
              <a:rPr lang="zh-CN"/>
              <a:t>如何度量价值（如何度量价值）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>
                <a:solidFill>
                  <a:srgbClr val="277C4F">
                    <a:alpha val="100000"/>
                  </a:srgbClr>
                </a:solidFill>
              </a:rPr>
              <a:t>1. </a:t>
            </a:r>
            <a:r>
              <a:rPr lang="zh-CN" altLang="en-US" b="1">
                <a:solidFill>
                  <a:srgbClr val="277C4F">
                    <a:alpha val="100000"/>
                  </a:srgbClr>
                </a:solidFill>
              </a:rPr>
              <a:t>三</a:t>
            </a:r>
            <a:r>
              <a:rPr lang="zh-CN" b="1">
                <a:solidFill>
                  <a:srgbClr val="277C4F">
                    <a:alpha val="100000"/>
                  </a:srgbClr>
                </a:solidFill>
              </a:rPr>
              <a:t>季度工作总结</a:t>
            </a:r>
            <a:r>
              <a:rPr lang="en-US" b="1">
                <a:solidFill>
                  <a:srgbClr val="277C4F">
                    <a:alpha val="100000"/>
                  </a:srgbClr>
                </a:solidFill>
              </a:rPr>
              <a:t> - </a:t>
            </a:r>
            <a:r>
              <a:rPr lang="zh-CN" b="1">
                <a:solidFill>
                  <a:srgbClr val="277C4F">
                    <a:alpha val="100000"/>
                  </a:srgbClr>
                </a:solidFill>
              </a:rPr>
              <a:t>成果</a:t>
            </a:r>
            <a:endParaRPr lang="zh-CN" b="1">
              <a:solidFill>
                <a:srgbClr val="277C4F">
                  <a:alpha val="100000"/>
                </a:srgbClr>
              </a:solidFill>
            </a:endParaRPr>
          </a:p>
        </p:txBody>
      </p:sp>
      <p:sp>
        <p:nvSpPr>
          <p:cNvPr id="9" name="内容占位符 2"/>
          <p:cNvSpPr txBox="1">
            <a:spLocks noGrp="1"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微软雅黑"/>
              </a:defRPr>
            </a:pPr>
            <a:r>
              <a:rPr lang="zh-CN" sz="2000">
                <a:solidFill>
                  <a:srgbClr val="A5A5A5">
                    <a:alpha val="100000"/>
                  </a:srgbClr>
                </a:solidFill>
                <a:latin typeface="Arial" panose="020B0604020202090204"/>
                <a:ea typeface="微软雅黑"/>
              </a:rPr>
              <a:t>简明扼要阐述已产出价值的成果</a:t>
            </a:r>
            <a:r>
              <a:rPr lang="en-US" sz="2000">
                <a:solidFill>
                  <a:srgbClr val="A5A5A5">
                    <a:alpha val="100000"/>
                  </a:srgbClr>
                </a:solidFill>
                <a:latin typeface="Arial" panose="020B0604020202090204"/>
                <a:ea typeface="微软雅黑"/>
              </a:rPr>
              <a:t>
</a:t>
            </a:r>
            <a:endParaRPr lang="en-US" sz="2000">
              <a:solidFill>
                <a:srgbClr val="A5A5A5">
                  <a:alpha val="100000"/>
                </a:srgbClr>
              </a:solidFill>
              <a:latin typeface="Arial" panose="020B0604020202090204"/>
              <a:ea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>
                <a:solidFill>
                  <a:srgbClr val="277C4F">
                    <a:alpha val="100000"/>
                  </a:srgbClr>
                </a:solidFill>
              </a:rPr>
              <a:t>2. </a:t>
            </a:r>
            <a:r>
              <a:rPr lang="zh-CN" altLang="en-US" b="1">
                <a:solidFill>
                  <a:srgbClr val="277C4F">
                    <a:alpha val="100000"/>
                  </a:srgbClr>
                </a:solidFill>
              </a:rPr>
              <a:t>三季度</a:t>
            </a:r>
            <a:r>
              <a:rPr lang="zh-CN" b="1">
                <a:solidFill>
                  <a:srgbClr val="277C4F">
                    <a:alpha val="100000"/>
                  </a:srgbClr>
                </a:solidFill>
              </a:rPr>
              <a:t>工作总结</a:t>
            </a:r>
            <a:r>
              <a:rPr lang="en-US" b="1">
                <a:solidFill>
                  <a:srgbClr val="277C4F">
                    <a:alpha val="100000"/>
                  </a:srgbClr>
                </a:solidFill>
              </a:rPr>
              <a:t> - </a:t>
            </a:r>
            <a:r>
              <a:rPr lang="zh-CN" b="1">
                <a:solidFill>
                  <a:srgbClr val="277C4F">
                    <a:alpha val="100000"/>
                  </a:srgbClr>
                </a:solidFill>
              </a:rPr>
              <a:t>突破</a:t>
            </a:r>
            <a:endParaRPr lang="zh-CN" b="1">
              <a:solidFill>
                <a:srgbClr val="277C4F">
                  <a:alpha val="100000"/>
                </a:srgbClr>
              </a:solidFill>
            </a:endParaRPr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90204" pitchFamily="34" charset="0"/>
              <a:buChar char="•"/>
            </a:pPr>
            <a:r>
              <a:rPr lang="zh-CN" sz="2000">
                <a:solidFill>
                  <a:srgbClr val="A5A5A5">
                    <a:alpha val="100000"/>
                  </a:srgbClr>
                </a:solidFill>
              </a:rPr>
              <a:t>阐述工作思路、方法、机制、技术等方面的突破性做法</a:t>
            </a:r>
            <a:endParaRPr lang="zh-CN" sz="2000">
              <a:solidFill>
                <a:srgbClr val="A5A5A5">
                  <a:alpha val="100000"/>
                </a:srgb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>
                <a:solidFill>
                  <a:srgbClr val="277C4F">
                    <a:alpha val="100000"/>
                  </a:srgbClr>
                </a:solidFill>
              </a:rPr>
              <a:t>3. </a:t>
            </a:r>
            <a:r>
              <a:rPr lang="zh-CN" altLang="en-US" b="1">
                <a:solidFill>
                  <a:srgbClr val="277C4F">
                    <a:alpha val="100000"/>
                  </a:srgbClr>
                </a:solidFill>
              </a:rPr>
              <a:t>四季度</a:t>
            </a:r>
            <a:r>
              <a:rPr lang="zh-CN" b="1">
                <a:solidFill>
                  <a:srgbClr val="277C4F">
                    <a:alpha val="100000"/>
                  </a:srgbClr>
                </a:solidFill>
              </a:rPr>
              <a:t>工作目标</a:t>
            </a:r>
            <a:endParaRPr lang="zh-CN" b="1">
              <a:solidFill>
                <a:srgbClr val="277C4F">
                  <a:alpha val="100000"/>
                </a:srgbClr>
              </a:solidFill>
            </a:endParaRPr>
          </a:p>
        </p:txBody>
      </p:sp>
      <p:sp>
        <p:nvSpPr>
          <p:cNvPr id="15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buFont typeface="Arial" panose="020B0604020202090204" pitchFamily="34" charset="0"/>
              <a:buChar char="•"/>
            </a:pPr>
            <a:r>
              <a:rPr lang="zh-CN" sz="2000">
                <a:solidFill>
                  <a:srgbClr val="A5A5A5">
                    <a:alpha val="100000"/>
                  </a:srgbClr>
                </a:solidFill>
              </a:rPr>
              <a:t>简要罗列</a:t>
            </a:r>
            <a:r>
              <a:rPr lang="zh-CN" sz="2000">
                <a:solidFill>
                  <a:srgbClr val="A5A5A5">
                    <a:alpha val="100000"/>
                  </a:srgbClr>
                </a:solidFill>
              </a:rPr>
              <a:t>四季度的产出目标（重点陈述可对外交付的成果，）</a:t>
            </a:r>
            <a:endParaRPr lang="zh-CN" sz="2000">
              <a:solidFill>
                <a:srgbClr val="A5A5A5">
                  <a:alpha val="100000"/>
                </a:srgbClr>
              </a:solidFill>
            </a:endParaRPr>
          </a:p>
          <a:p>
            <a:pPr>
              <a:buFont typeface="Arial" panose="020B0604020202090204" pitchFamily="34" charset="0"/>
              <a:buChar char="•"/>
            </a:pPr>
            <a:endParaRPr lang="zh-CN" sz="2000">
              <a:solidFill>
                <a:srgbClr val="A5A5A5">
                  <a:alpha val="100000"/>
                </a:srgb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>
                <a:solidFill>
                  <a:srgbClr val="277C4F">
                    <a:alpha val="100000"/>
                  </a:srgbClr>
                </a:solidFill>
              </a:rPr>
              <a:t>4. </a:t>
            </a:r>
            <a:r>
              <a:rPr lang="zh-CN" altLang="en-US" b="1">
                <a:solidFill>
                  <a:srgbClr val="277C4F">
                    <a:alpha val="100000"/>
                  </a:srgbClr>
                </a:solidFill>
              </a:rPr>
              <a:t>四季度</a:t>
            </a:r>
            <a:r>
              <a:rPr lang="zh-CN" b="1">
                <a:solidFill>
                  <a:srgbClr val="277C4F">
                    <a:alpha val="100000"/>
                  </a:srgbClr>
                </a:solidFill>
              </a:rPr>
              <a:t>工作思路</a:t>
            </a:r>
            <a:r>
              <a:rPr lang="en-US" b="1">
                <a:solidFill>
                  <a:srgbClr val="277C4F">
                    <a:alpha val="100000"/>
                  </a:srgbClr>
                </a:solidFill>
              </a:rPr>
              <a:t> </a:t>
            </a:r>
            <a:endParaRPr lang="en-US" b="1">
              <a:solidFill>
                <a:srgbClr val="277C4F">
                  <a:alpha val="100000"/>
                </a:srgbClr>
              </a:solidFill>
            </a:endParaRPr>
          </a:p>
        </p:txBody>
      </p:sp>
      <p:sp>
        <p:nvSpPr>
          <p:cNvPr id="18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90204" pitchFamily="34" charset="0"/>
              <a:buChar char="•"/>
            </a:pPr>
            <a:r>
              <a:rPr lang="zh-CN" sz="2000">
                <a:solidFill>
                  <a:srgbClr val="A5A5A5">
                    <a:alpha val="100000"/>
                  </a:srgbClr>
                </a:solidFill>
              </a:rPr>
              <a:t>工作计划按</a:t>
            </a:r>
            <a:r>
              <a:rPr lang="zh-CN" sz="2000">
                <a:solidFill>
                  <a:srgbClr val="A5A5A5">
                    <a:alpha val="100000"/>
                  </a:srgbClr>
                </a:solidFill>
              </a:rPr>
              <a:t>月拆解。</a:t>
            </a:r>
            <a:endParaRPr lang="zh-CN" sz="2000">
              <a:solidFill>
                <a:srgbClr val="A5A5A5">
                  <a:alpha val="100000"/>
                </a:srgbClr>
              </a:solidFill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zh-CN" sz="2000">
                <a:solidFill>
                  <a:srgbClr val="A5A5A5">
                    <a:alpha val="100000"/>
                  </a:srgbClr>
                </a:solidFill>
              </a:rPr>
              <a:t>为完成</a:t>
            </a:r>
            <a:r>
              <a:rPr lang="zh-CN" sz="2000">
                <a:solidFill>
                  <a:srgbClr val="A5A5A5">
                    <a:alpha val="100000"/>
                  </a:srgbClr>
                </a:solidFill>
              </a:rPr>
              <a:t>四季度的工作，预估有什么挑战，</a:t>
            </a:r>
            <a:r>
              <a:rPr lang="en-US" sz="2000">
                <a:solidFill>
                  <a:srgbClr val="A5A5A5">
                    <a:alpha val="100000"/>
                  </a:srgbClr>
                </a:solidFill>
              </a:rPr>
              <a:t> </a:t>
            </a:r>
            <a:r>
              <a:rPr lang="zh-CN" sz="2000">
                <a:solidFill>
                  <a:srgbClr val="A5A5A5">
                    <a:alpha val="100000"/>
                  </a:srgbClr>
                </a:solidFill>
              </a:rPr>
              <a:t>计划如何解决，如何想办法突破困难</a:t>
            </a:r>
            <a:endParaRPr lang="zh-CN" sz="2000">
              <a:solidFill>
                <a:srgbClr val="A5A5A5">
                  <a:alpha val="100000"/>
                </a:srgb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企业微信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</Words>
  <Application>WPS 文字</Application>
  <PresentationFormat/>
  <Paragraphs>30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汉仪旗黑</vt:lpstr>
      <vt:lpstr>微软雅黑</vt:lpstr>
      <vt:lpstr>Calibri</vt:lpstr>
      <vt:lpstr>Helvetica Neue</vt:lpstr>
      <vt:lpstr>汉仪书宋二KW</vt:lpstr>
      <vt:lpstr>宋体</vt:lpstr>
      <vt:lpstr>Arial Unicode MS</vt:lpstr>
      <vt:lpstr>微软雅黑</vt:lpstr>
      <vt:lpstr>企业微信</vt:lpstr>
      <vt:lpstr>2025年12月</vt:lpstr>
      <vt:lpstr>部门工作职责</vt:lpstr>
      <vt:lpstr>1. 上月工作总结 - 成果</vt:lpstr>
      <vt:lpstr>2. 上月工作总结 - 突破</vt:lpstr>
      <vt:lpstr>3. 本月工作目标</vt:lpstr>
      <vt:lpstr>4. 本月工作思路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季度工作汇报2026年9月</dc:title>
  <dc:creator/>
  <cp:lastModifiedBy>Ki小妮</cp:lastModifiedBy>
  <cp:revision>1</cp:revision>
  <dcterms:created xsi:type="dcterms:W3CDTF">2026-09-01T12:33:03Z</dcterms:created>
  <dcterms:modified xsi:type="dcterms:W3CDTF">2026-09-01T12:33:03Z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9DDDBE99AD283ED2FFC5966AC1065877_42</vt:lpwstr>
  </property>
  <property fmtid="{D5CDD505-2E9C-101B-9397-08002B2CF9AE}" pid="3" name="KSOProductBuildVer">
    <vt:lpwstr>2052-12.1.25201.25201</vt:lpwstr>
  </property>
</Properties>
</file>