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84fa9413f14bcc" /><Relationship Type="http://schemas.openxmlformats.org/officeDocument/2006/relationships/extended-properties" Target="/docProps/app.xml" Id="Rb6b85d2cea83431e" /><Relationship Type="http://schemas.openxmlformats.org/officeDocument/2006/relationships/officeDocument" Target="/ppt/presentation.xml" Id="R23ce70d2d89242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02b1eaf66c4182"/>
  </p:sldMasterIdLst>
  <p:notesMasterIdLst>
    <p:notesMasterId xmlns:r="http://schemas.openxmlformats.org/officeDocument/2006/relationships" r:id="Rb1bd5d70c63b42bb"/>
  </p:notesMasterIdLst>
  <p:sldIdLst>
    <p:sldId xmlns:r="http://schemas.openxmlformats.org/officeDocument/2006/relationships" id="256" r:id="R69f54ae141f54ff3"/>
    <p:sldId xmlns:r="http://schemas.openxmlformats.org/officeDocument/2006/relationships" id="257" r:id="R1879091fbc4a4aa8"/>
    <p:sldId xmlns:r="http://schemas.openxmlformats.org/officeDocument/2006/relationships" id="258" r:id="R357c9411dd5146ec"/>
    <p:sldId xmlns:r="http://schemas.openxmlformats.org/officeDocument/2006/relationships" id="259" r:id="Rdf11c4dea97048f9"/>
    <p:sldId xmlns:r="http://schemas.openxmlformats.org/officeDocument/2006/relationships" id="260" r:id="Rcd467c2c53444dfe"/>
    <p:sldId xmlns:r="http://schemas.openxmlformats.org/officeDocument/2006/relationships" id="261" r:id="Rfdd0bdbe288f4977"/>
    <p:sldId xmlns:r="http://schemas.openxmlformats.org/officeDocument/2006/relationships" id="262" r:id="R954759a8d6e84fbc"/>
    <p:sldId xmlns:r="http://schemas.openxmlformats.org/officeDocument/2006/relationships" id="263" r:id="R93bc3fe5439f4492"/>
    <p:sldId xmlns:r="http://schemas.openxmlformats.org/officeDocument/2006/relationships" id="264" r:id="R786a88fab9aa46ae"/>
    <p:sldId xmlns:r="http://schemas.openxmlformats.org/officeDocument/2006/relationships" id="265" r:id="Raf05c33804dc4726"/>
    <p:sldId xmlns:r="http://schemas.openxmlformats.org/officeDocument/2006/relationships" id="266" r:id="R23d8f828b6dd4edc"/>
    <p:sldId xmlns:r="http://schemas.openxmlformats.org/officeDocument/2006/relationships" id="267" r:id="R1dfad186d8404798"/>
  </p:sldIdLst>
  <p:sldSz cx="12192000" cy="6858000"/>
  <p:notesSz cx="6858000" cy="9144000"/>
  <p:defaultTextStyle>
    <a:lvl1pPr xmlns:a="http://schemas.openxmlformats.org/drawingml/2006/main" marL="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1pPr>
    <a:lvl2pPr xmlns:a="http://schemas.openxmlformats.org/drawingml/2006/main" marL="457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2pPr>
    <a:lvl3pPr xmlns:a="http://schemas.openxmlformats.org/drawingml/2006/main" marL="914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3pPr>
    <a:lvl4pPr xmlns:a="http://schemas.openxmlformats.org/drawingml/2006/main" marL="1371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4pPr>
    <a:lvl5pPr xmlns:a="http://schemas.openxmlformats.org/drawingml/2006/main" marL="18288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5pPr>
    <a:lvl6pPr xmlns:a="http://schemas.openxmlformats.org/drawingml/2006/main" marL="22860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6pPr>
    <a:lvl7pPr xmlns:a="http://schemas.openxmlformats.org/drawingml/2006/main" marL="27432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7pPr>
    <a:lvl8pPr xmlns:a="http://schemas.openxmlformats.org/drawingml/2006/main" marL="32004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8pPr>
    <a:lvl9pPr xmlns:a="http://schemas.openxmlformats.org/drawingml/2006/main" marL="3657600" algn="l" defTabSz="914400">
      <a:lnSpc>
        <a:spcPct val="130000"/>
      </a:lnSpc>
      <a:buNone/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3dbd8d523747c8" /><Relationship Type="http://schemas.openxmlformats.org/officeDocument/2006/relationships/slideMaster" Target="/ppt/slideMasters/slideMaster1.xml" Id="Reb02b1eaf66c4182" /><Relationship Type="http://schemas.openxmlformats.org/officeDocument/2006/relationships/notesMaster" Target="/ppt/notesMasters/notesMaster1.xml" Id="Rb1bd5d70c63b42bb" /><Relationship Type="http://schemas.openxmlformats.org/officeDocument/2006/relationships/presProps" Target="/ppt/presProps.xml" Id="R6a57d0fd915d4ff0" /><Relationship Type="http://schemas.openxmlformats.org/officeDocument/2006/relationships/viewProps" Target="/ppt/viewProps.xml" Id="R935fd1fcbcb04f0c" /><Relationship Type="http://schemas.openxmlformats.org/officeDocument/2006/relationships/tableStyles" Target="/ppt/tableStyles.xml" Id="R47e21313d0b4446d" /><Relationship Type="http://schemas.openxmlformats.org/officeDocument/2006/relationships/slide" Target="/ppt/slides/slide1.xml" Id="R69f54ae141f54ff3" /><Relationship Type="http://schemas.openxmlformats.org/officeDocument/2006/relationships/slide" Target="/ppt/slides/slide2.xml" Id="R1879091fbc4a4aa8" /><Relationship Type="http://schemas.openxmlformats.org/officeDocument/2006/relationships/slide" Target="/ppt/slides/slide3.xml" Id="R357c9411dd5146ec" /><Relationship Type="http://schemas.openxmlformats.org/officeDocument/2006/relationships/slide" Target="/ppt/slides/slide4.xml" Id="Rdf11c4dea97048f9" /><Relationship Type="http://schemas.openxmlformats.org/officeDocument/2006/relationships/slide" Target="/ppt/slides/slide5.xml" Id="Rcd467c2c53444dfe" /><Relationship Type="http://schemas.openxmlformats.org/officeDocument/2006/relationships/slide" Target="/ppt/slides/slide6.xml" Id="Rfdd0bdbe288f4977" /><Relationship Type="http://schemas.openxmlformats.org/officeDocument/2006/relationships/slide" Target="/ppt/slides/slide7.xml" Id="R954759a8d6e84fbc" /><Relationship Type="http://schemas.openxmlformats.org/officeDocument/2006/relationships/slide" Target="/ppt/slides/slide8.xml" Id="R93bc3fe5439f4492" /><Relationship Type="http://schemas.openxmlformats.org/officeDocument/2006/relationships/slide" Target="/ppt/slides/slide9.xml" Id="R786a88fab9aa46ae" /><Relationship Type="http://schemas.openxmlformats.org/officeDocument/2006/relationships/slide" Target="/ppt/slides/slide10.xml" Id="Raf05c33804dc4726" /><Relationship Type="http://schemas.openxmlformats.org/officeDocument/2006/relationships/slide" Target="/ppt/slides/slide11.xml" Id="R23d8f828b6dd4edc" /><Relationship Type="http://schemas.openxmlformats.org/officeDocument/2006/relationships/slide" Target="/ppt/slides/slide12.xml" Id="R1dfad186d84047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ab912a5a97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26d6ee48304a69" /><Relationship Type="http://schemas.openxmlformats.org/officeDocument/2006/relationships/notesMaster" Target="/ppt/notesMasters/notesMaster1.xml" Id="R220a2877bb0848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b0c31252d4771" /><Relationship Type="http://schemas.openxmlformats.org/officeDocument/2006/relationships/notesMaster" Target="/ppt/notesMasters/notesMaster1.xml" Id="R380aba2fc1ca41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c59048849e4fab" /><Relationship Type="http://schemas.openxmlformats.org/officeDocument/2006/relationships/notesMaster" Target="/ppt/notesMasters/notesMaster1.xml" Id="R665f9935d67c45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c723b8ceaa454a" /><Relationship Type="http://schemas.openxmlformats.org/officeDocument/2006/relationships/notesMaster" Target="/ppt/notesMasters/notesMaster1.xml" Id="Rd4d986b971114e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22daf5e3fa46d7" /><Relationship Type="http://schemas.openxmlformats.org/officeDocument/2006/relationships/notesMaster" Target="/ppt/notesMasters/notesMaster1.xml" Id="R7de7a3eba77446f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b5b5c23e444db3" /><Relationship Type="http://schemas.openxmlformats.org/officeDocument/2006/relationships/notesMaster" Target="/ppt/notesMasters/notesMaster1.xml" Id="R3be470efb6fe4fa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f52ce85bbc4117" /><Relationship Type="http://schemas.openxmlformats.org/officeDocument/2006/relationships/notesMaster" Target="/ppt/notesMasters/notesMaster1.xml" Id="R703fa3cd6f1f40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047e8d05b435f" /><Relationship Type="http://schemas.openxmlformats.org/officeDocument/2006/relationships/notesMaster" Target="/ppt/notesMasters/notesMaster1.xml" Id="R471476fb6988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d03a9559104339" /><Relationship Type="http://schemas.openxmlformats.org/officeDocument/2006/relationships/notesMaster" Target="/ppt/notesMasters/notesMaster1.xml" Id="R4c9f7603be5c46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3a10add9824882" /><Relationship Type="http://schemas.openxmlformats.org/officeDocument/2006/relationships/notesMaster" Target="/ppt/notesMasters/notesMaster1.xml" Id="Rf60ce3e5f66c4b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b15cf00cfc4dd3" /><Relationship Type="http://schemas.openxmlformats.org/officeDocument/2006/relationships/notesMaster" Target="/ppt/notesMasters/notesMaster1.xml" Id="Rc14700cc777249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558846e06047e0" /><Relationship Type="http://schemas.openxmlformats.org/officeDocument/2006/relationships/notesMaster" Target="/ppt/notesMasters/notesMaster1.xml" Id="R8d3c3b55193c4b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硬件产品矩阵与上市节奏依据用户提供的《硬件矩阵规划表》参考图整理。Q4节点以用户本次更新的计划为准。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Roadmap依据用户提供的规划表参考图及本次明确的10月至12月计划整理。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382dc45314c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a1b381b70149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6accaa882248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d82848e3b44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ba4b90863411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9dc7904844b1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784679d53412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3e60b70ad14c0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543ed7a74941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ac7cbf076146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139dafb30454c" /></Relationships>
</file>

<file path=ppt/slideLayouts/slideLayout1.xml><?xml version="1.0" encoding="utf-8"?>
<p:sldLayout xmlns:p="http://schemas.openxmlformats.org/presentationml/2006/main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B17230-0BA7-4A7B-9808-4F23152DB2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0B1C2B-1699-42EB-825C-FE3670E04A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574ADA3-4D43-403A-95C8-21C00C88F8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2F99851-E783-4379-ACFA-3ECC8B294E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56E8A14-5803-47FC-8BE3-5D11DE4D9E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FDC587FC-379F-4AD1-8E9F-C3F80D53B7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9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E82B2CFD-2276-4041-A89F-28AE8C8FEE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ECEB4D0-FB33-409C-8113-E639EBBE9C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E75693F-77AF-4270-AC91-6D1BD257822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0F261-FEE1-46DE-A36E-C221D51D9B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标题 1">
            <a:extLst xmlns:a="http://schemas.openxmlformats.org/drawingml/2006/main">
              <a:ext uri="{FF2B5EF4-FFF2-40B4-BE49-F238E27FC236}">
                <a16:creationId xmlns:a16="http://schemas.microsoft.com/office/drawing/2014/main" id="{E37CF83A-5A35-4745-9D62-4DD8579F8B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1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2B16BBE-A0AE-4A6F-80B9-56C9403D85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22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1DF1F2-8120-48D8-A90B-3245E6BD43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332220F-4EDE-4542-A6D4-119580CD14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C87ADEE-FFD8-49B1-A345-B2D04C6E0D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标题 1">
            <a:extLst xmlns:a="http://schemas.openxmlformats.org/drawingml/2006/main">
              <a:ext uri="{FF2B5EF4-FFF2-40B4-BE49-F238E27FC236}">
                <a16:creationId xmlns:a16="http://schemas.microsoft.com/office/drawing/2014/main" id="{D52254DA-7F45-4738-9CEC-A3B48890FA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2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DEEC63C-3102-459F-9BF4-03832007826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8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DBCF219-EE7B-4009-A9DC-3C499D70E95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29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7B9A7496-4DA9-4AD1-85C3-E52F137C57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879E29A-0BBD-4C57-85E5-39D633258E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A16D0C2-D2EE-4D06-A285-1071D27C58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标题 1">
            <a:extLst xmlns:a="http://schemas.openxmlformats.org/drawingml/2006/main">
              <a:ext uri="{FF2B5EF4-FFF2-40B4-BE49-F238E27FC236}">
                <a16:creationId xmlns:a16="http://schemas.microsoft.com/office/drawing/2014/main" id="{510D62BF-C106-49F1-9B3B-E5544543AA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4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F5EF52C-141C-4853-AF3F-8297835C17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5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25F572A-EBFF-40CA-8330-13CF1FB1F52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6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C886FB4-F5D8-4373-83C9-432FBEF2FA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37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8DB5C236-4A49-4F91-960B-B64878629D1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38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4654401-F24F-4FF0-BB61-C7E9C3BB43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B3A2431-A198-46D3-B8CC-4880589B6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8F73D4F-C3A3-4672-A6C5-4C0E941EC3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标题 1">
            <a:extLst xmlns:a="http://schemas.openxmlformats.org/drawingml/2006/main">
              <a:ext uri="{FF2B5EF4-FFF2-40B4-BE49-F238E27FC236}">
                <a16:creationId xmlns:a16="http://schemas.microsoft.com/office/drawing/2014/main" id="{6B4EC306-A54C-4743-A9E4-BF7DF341FA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4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3320F37-E981-4C1C-B1C3-6C0885752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8A18DAD-6FB1-4E52-808E-3F366B9B3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98C2191-337B-4713-BD14-774F529E14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3DA058BE-4DF4-4C4A-9ED2-01EB596FDF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7C91D11B-EE90-4726-B3AD-ECA48CCEF3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9AF3BAD-3B29-4A41-8D94-72B5F1221F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标题 1">
            <a:extLst xmlns:a="http://schemas.openxmlformats.org/drawingml/2006/main">
              <a:ext uri="{FF2B5EF4-FFF2-40B4-BE49-F238E27FC236}">
                <a16:creationId xmlns:a16="http://schemas.microsoft.com/office/drawing/2014/main" id="{BE91588E-3E22-4C20-A9C4-E398F58D9B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2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8B9D8D2-A45E-4AB0-B6B8-61C3795A07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53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DEB0AD1-5E5B-4EA6-8255-BF02CA0BF3C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695E8D9-CFBC-4F53-96B0-1F56D77C12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DF21F98-0A8F-438B-9394-411C7930F6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6AD6BF0-027C-4E53-BBBC-E4F45EA30B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标题 1">
            <a:extLst xmlns:a="http://schemas.openxmlformats.org/drawingml/2006/main">
              <a:ext uri="{FF2B5EF4-FFF2-40B4-BE49-F238E27FC236}">
                <a16:creationId xmlns:a16="http://schemas.microsoft.com/office/drawing/2014/main" id="{11D3A4BA-C77B-4CDD-99D1-A779B12B7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59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BAC954A-BC68-4BA1-9708-DAB16198DB2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60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280CFE2-C6C3-4220-9462-0233F79590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1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BE9505-22D1-4A82-98B1-DC40A3D7C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67EED48-3ADE-491A-AD1C-FA553357585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371ADA8D-5677-4558-A8F1-025705AF1C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标题 1">
            <a:extLst xmlns:a="http://schemas.openxmlformats.org/drawingml/2006/main">
              <a:ext uri="{FF2B5EF4-FFF2-40B4-BE49-F238E27FC236}">
                <a16:creationId xmlns:a16="http://schemas.microsoft.com/office/drawing/2014/main" id="{12AC4188-C3B9-42E8-BA3E-028ED5125E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66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2DBC7E2-142E-4F21-877B-6679F44A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6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E3B3530-9CFD-4608-84BE-43134AFAD4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5EDC66B-3EF1-4902-A16B-CA828B6062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CA21C92-29B4-498F-BED4-2496E13166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4ECFC78-530F-42CF-88B8-D9E3865352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15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AF5A528-A18D-4081-BF18-FCA09BF94C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6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CECAF1E-5AAE-414A-A410-509D0CBA428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534ECDA-A8DD-4F1A-AB9B-EE70D5B13E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6D23E9F-7AFD-4062-98B5-63C829ED4F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df4747c09ef54a41" /><Relationship Type="http://schemas.openxmlformats.org/officeDocument/2006/relationships/theme" Target="/ppt/slideMasters/theme/theme2.xml" Id="Rd5340a2f87ea4800" /><Relationship Type="http://schemas.openxmlformats.org/officeDocument/2006/relationships/slideLayout" Target="/ppt/slideLayouts/slideLayout1.xml" Id="R56c55d0f5d6d4a8b" /><Relationship Type="http://schemas.openxmlformats.org/officeDocument/2006/relationships/slideLayout" Target="/ppt/slideLayouts/slideLayout2.xml" Id="R6b2c4986405d4525" /><Relationship Type="http://schemas.openxmlformats.org/officeDocument/2006/relationships/slideLayout" Target="/ppt/slideLayouts/slideLayout3.xml" Id="Rc82d86fd096e4a8a" /><Relationship Type="http://schemas.openxmlformats.org/officeDocument/2006/relationships/slideLayout" Target="/ppt/slideLayouts/slideLayout4.xml" Id="Rc499da203c244eef" /><Relationship Type="http://schemas.openxmlformats.org/officeDocument/2006/relationships/slideLayout" Target="/ppt/slideLayouts/slideLayout5.xml" Id="R2c61a2ae14444b20" /><Relationship Type="http://schemas.openxmlformats.org/officeDocument/2006/relationships/slideLayout" Target="/ppt/slideLayouts/slideLayout6.xml" Id="R86d55462329143a8" /><Relationship Type="http://schemas.openxmlformats.org/officeDocument/2006/relationships/slideLayout" Target="/ppt/slideLayouts/slideLayout7.xml" Id="Re1e04ba6d3d545a5" /><Relationship Type="http://schemas.openxmlformats.org/officeDocument/2006/relationships/slideLayout" Target="/ppt/slideLayouts/slideLayout8.xml" Id="R32ee54a840d24e21" /><Relationship Type="http://schemas.openxmlformats.org/officeDocument/2006/relationships/slideLayout" Target="/ppt/slideLayouts/slideLayout9.xml" Id="R8f8d755aacc6434e" /><Relationship Type="http://schemas.openxmlformats.org/officeDocument/2006/relationships/slideLayout" Target="/ppt/slideLayouts/slideLayout10.xml" Id="R495d4cf0db3c4ac2" /><Relationship Type="http://schemas.openxmlformats.org/officeDocument/2006/relationships/slideLayout" Target="/ppt/slideLayouts/slideLayout11.xml" Id="Rc6147b0c77e6457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3367C53-C1EC-463D-BF31-19F1AF1B67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43209AB-8A29-4617-BFD6-D27297E5A4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ADBA2F7-CDDC-4D73-8726-AD8DE1B1AF6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9396629-4EF5-4A3E-9017-24058368ADE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65F013-8FEC-467D-B8C9-3D20AD7E77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1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747c09ef54a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98015" y="50800"/>
            <a:ext cx="1704283" cy="327025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c55d0f5d6d4a8b"/>
    <p:sldLayoutId xmlns:r="http://schemas.openxmlformats.org/officeDocument/2006/relationships" id="2147483650" r:id="R6b2c4986405d4525"/>
    <p:sldLayoutId xmlns:r="http://schemas.openxmlformats.org/officeDocument/2006/relationships" id="2147483651" r:id="Rc82d86fd096e4a8a"/>
    <p:sldLayoutId xmlns:r="http://schemas.openxmlformats.org/officeDocument/2006/relationships" id="2147483652" r:id="Rc499da203c244eef"/>
    <p:sldLayoutId xmlns:r="http://schemas.openxmlformats.org/officeDocument/2006/relationships" id="2147483653" r:id="R2c61a2ae14444b20"/>
    <p:sldLayoutId xmlns:r="http://schemas.openxmlformats.org/officeDocument/2006/relationships" id="2147483654" r:id="R86d55462329143a8"/>
    <p:sldLayoutId xmlns:r="http://schemas.openxmlformats.org/officeDocument/2006/relationships" id="2147483655" r:id="Re1e04ba6d3d545a5"/>
    <p:sldLayoutId xmlns:r="http://schemas.openxmlformats.org/officeDocument/2006/relationships" id="2147483656" r:id="R32ee54a840d24e21"/>
    <p:sldLayoutId xmlns:r="http://schemas.openxmlformats.org/officeDocument/2006/relationships" id="2147483657" r:id="R8f8d755aacc6434e"/>
    <p:sldLayoutId xmlns:r="http://schemas.openxmlformats.org/officeDocument/2006/relationships" id="2147483658" r:id="R495d4cf0db3c4ac2"/>
    <p:sldLayoutId xmlns:r="http://schemas.openxmlformats.org/officeDocument/2006/relationships" id="2147483659" r:id="Rc6147b0c77e64578"/>
  </p:sldLayoutIdLst>
  <p:txStyles>
    <p:titleStyle>
      <a:lvl1pPr xmlns:a="http://schemas.openxmlformats.org/drawingml/2006/main" algn="l" defTabSz="914400">
        <a:lnSpc>
          <a:spcPct val="130000"/>
        </a:lnSpc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 defTabSz="914400">
        <a:lnSpc>
          <a:spcPct val="13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 defTabSz="914400">
        <a:lnSpc>
          <a:spcPct val="130000"/>
        </a:lnSpc>
        <a:buNone/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109312dbba450c" /><Relationship Type="http://schemas.openxmlformats.org/officeDocument/2006/relationships/notesSlide" Target="/ppt/notesSlides/notesSlide1.xml" Id="R5664634e1bd740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f93f8c1ed540f1" /><Relationship Type="http://schemas.openxmlformats.org/officeDocument/2006/relationships/notesSlide" Target="/ppt/notesSlides/notesSlide2.xml" Id="R1a9a0e3ccec447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9938835064dfa" /><Relationship Type="http://schemas.openxmlformats.org/officeDocument/2006/relationships/notesSlide" Target="/ppt/notesSlides/notesSlide3.xml" Id="Rde54a1ea254640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328c82d87c442c" /><Relationship Type="http://schemas.openxmlformats.org/officeDocument/2006/relationships/chart" Target="/ppt/slides/charts/chart1.xml" Id="Rdaa5b5b3f1b94532" /><Relationship Type="http://schemas.openxmlformats.org/officeDocument/2006/relationships/notesSlide" Target="/ppt/notesSlides/notesSlide4.xml" Id="R9727d23c8b0449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7004bb4f254448" /><Relationship Type="http://schemas.openxmlformats.org/officeDocument/2006/relationships/notesSlide" Target="/ppt/notesSlides/notesSlide5.xml" Id="Reff57cee228949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e4b16a3f125463c" /><Relationship Type="http://schemas.openxmlformats.org/officeDocument/2006/relationships/notesSlide" Target="/ppt/notesSlides/notesSlide6.xml" Id="R9c2edebac80c415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3989a672a6d42af" /><Relationship Type="http://schemas.openxmlformats.org/officeDocument/2006/relationships/notesSlide" Target="/ppt/notesSlides/notesSlide7.xml" Id="R8ee15666730e4f0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8f7f3e915d4854" /><Relationship Type="http://schemas.openxmlformats.org/officeDocument/2006/relationships/chart" Target="/ppt/slides/charts/chart2.xml" Id="R99f7e105d1e14dcd" /><Relationship Type="http://schemas.openxmlformats.org/officeDocument/2006/relationships/notesSlide" Target="/ppt/notesSlides/notesSlide8.xml" Id="R9d27209840924a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542494145b421d" /><Relationship Type="http://schemas.openxmlformats.org/officeDocument/2006/relationships/notesSlide" Target="/ppt/notesSlides/notesSlide9.xml" Id="Rb9a182cc3d314ec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9ebb1c3aba4702" /><Relationship Type="http://schemas.openxmlformats.org/officeDocument/2006/relationships/notesSlide" Target="/ppt/notesSlides/notesSlide10.xml" Id="R6bdaa3b0a8a8465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2e8f41b8bb4115" /><Relationship Type="http://schemas.openxmlformats.org/officeDocument/2006/relationships/notesSlide" Target="/ppt/notesSlides/notesSlide11.xml" Id="R4524121eb2e742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51f23dd7d34eaf" /><Relationship Type="http://schemas.openxmlformats.org/officeDocument/2006/relationships/notesSlide" Target="/ppt/notesSlides/notesSlide12.xml" Id="R36bd74f205f6487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优化前</c:v>
          </c:tx>
          <c:spPr>
            <a:solidFill xmlns:a="http://schemas.openxmlformats.org/drawingml/2006/main">
              <a:srgbClr val="A7AFB5"/>
            </a:solidFill>
          </c:spPr>
          <c:cat>
            <c:strLit>
              <c:ptCount val="4"/>
              <c:pt idx="0">
                <c:v>WiFi开机对话</c:v>
              </c:pt>
              <c:pt idx="1">
                <c:v>WiFi深睡唤醒</c:v>
              </c:pt>
              <c:pt idx="2">
                <c:v>4G开机对话</c:v>
              </c:pt>
              <c:pt idx="3">
                <c:v>4G深睡唤醒</c:v>
              </c:pt>
            </c:strLit>
          </c:cat>
          <c:val>
            <c:numLit>
              <c:formatCode>0"秒"</c:formatCode>
              <c:ptCount val="4"/>
              <c:pt idx="0">
                <c:v>30</c:v>
              </c:pt>
              <c:pt idx="1">
                <c:v>13</c:v>
              </c:pt>
              <c:pt idx="2">
                <c:v>30</c:v>
              </c:pt>
              <c:pt idx="3">
                <c:v>20</c:v>
              </c:pt>
            </c:numLit>
          </c:val>
        </c:ser>
        <c:ser>
          <c:idx val="1"/>
          <c:order val="1"/>
          <c:tx>
            <c:v>优化后</c:v>
          </c:tx>
          <c:spPr>
            <a:solidFill xmlns:a="http://schemas.openxmlformats.org/drawingml/2006/main">
              <a:srgbClr val="27814F"/>
            </a:solidFill>
          </c:spPr>
          <c:cat>
            <c:strLit>
              <c:ptCount val="4"/>
              <c:pt idx="0">
                <c:v>WiFi开机对话</c:v>
              </c:pt>
              <c:pt idx="1">
                <c:v>WiFi深睡唤醒</c:v>
              </c:pt>
              <c:pt idx="2">
                <c:v>4G开机对话</c:v>
              </c:pt>
              <c:pt idx="3">
                <c:v>4G深睡唤醒</c:v>
              </c:pt>
            </c:strLit>
          </c:cat>
          <c:val>
            <c:numLit>
              <c:formatCode>0"秒"</c:formatCode>
              <c:ptCount val="4"/>
              <c:pt idx="0">
                <c:v>15</c:v>
              </c:pt>
              <c:pt idx="1">
                <c:v>9</c:v>
              </c:pt>
              <c:pt idx="2">
                <c:v>25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021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5"/>
              </a:solidFill>
              <a:prstDash val="solid"/>
            </a:ln>
          </c:spPr>
        </c:majorGridlines>
        <c:numFmt formatCode="0&quot;秒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02124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完成度</c:v>
          </c:tx>
          <c:spPr>
            <a:solidFill xmlns:a="http://schemas.openxmlformats.org/drawingml/2006/main">
              <a:srgbClr val="27814F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E0A62B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7814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7814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55A4A"/>
              </a:solidFill>
            </c:spPr>
          </c:dPt>
          <c:cat>
            <c:strLit>
              <c:ptCount val="4"/>
              <c:pt idx="0">
                <c:v>小程序SDK接入</c:v>
              </c:pt>
              <c:pt idx="1">
                <c:v>配网流程</c:v>
              </c:pt>
              <c:pt idx="2">
                <c:v>联网流程</c:v>
              </c:pt>
              <c:pt idx="3">
                <c:v>数据上报</c:v>
              </c:pt>
            </c:strLit>
          </c:cat>
          <c:val>
            <c:numLit>
              <c:formatCode>0%</c:formatCode>
              <c:ptCount val="4"/>
              <c:pt idx="0">
                <c:v>0.6</c:v>
              </c:pt>
              <c:pt idx="1">
                <c:v>1</c:v>
              </c:pt>
              <c:pt idx="2">
                <c:v>1</c:v>
              </c:pt>
              <c:pt idx="3">
                <c:v>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20212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7E5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CFBC16-3F5A-4684-AE40-2896B3E0D3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季度工作汇报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  <a:p xmlns:a="http://schemas.openxmlformats.org/drawingml/2006/main">
            <a:pPr>
              <a:buNone/>
            </a:pPr>
            <a:r>
              <a:rPr sz="4000"/>
              <a:t>2026年8-9月</a:t>
            </a:r>
            <a:endParaRPr sz="4000"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224579E-4299-4E0B-A8BD-9276DD567C9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38453" y="5441294"/>
            <a:ext cx="9144000" cy="61494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Font typeface="Arial"/>
              <a:buNone/>
            </a:pPr>
            <a:r>
              <a:t>养娃乐教育科技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430244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2D8115A-B0C9-4DB1-982F-42C521EE17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工作职责与季度工作全景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838200" y="1809750"/>
          <a:ext xmlns:a="http://schemas.openxmlformats.org/drawingml/2006/main" cx="105156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238625"/>
                <a:gridCol w="4657725"/>
              </a:tblGrid>
              <a:tr h="819150">
                <a:tc>
                  <a:txBody>
                    <a:bodyPr/>
                    <a:lstStyle/>
                    <a:p>
                      <a:r>
                        <a:t>工作领域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主要职责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8-9月重点产出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AI玩偶端侧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硬件端侧功能开发、迭代与体验优化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核心功能上线，冷启动与对话专项优化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协同软件端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小程序能力建设与跨端协同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声纹功能设计，涂鸦SDK接入60%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产品规划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Roadmap、产品矩阵与竞品调研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完成硬件矩阵、UJM与智能硬件调研</a:t>
                      </a:r>
                    </a:p>
                  </a:txBody>
                  <a:tcPr marL="91440" marR="91440" marT="45720" marB="45720"/>
                </a:tc>
              </a:tr>
              <a:tr h="819150">
                <a:tc>
                  <a:txBody>
                    <a:bodyPr/>
                    <a:lstStyle/>
                    <a:p>
                      <a:r>
                        <a:t>项目交付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联调测试、版本发布与跨团队推进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推进V5、直播、NFC项目，发布4个固件版本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226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标题 1">
            <a:extLst xmlns:a="http://schemas.openxmlformats.org/drawingml/2006/main">
              <a:ext uri="{FF2B5EF4-FFF2-40B4-BE49-F238E27FC236}">
                <a16:creationId xmlns:a16="http://schemas.microsoft.com/office/drawing/2014/main" id="{055915BC-BE81-4BEB-AB03-03D22DEC48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 核心终端功能上线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38200" y="1762125"/>
          <a:ext xmlns:a="http://schemas.openxmlformats.org/drawingml/2006/main" cx="105156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5048250"/>
                <a:gridCol w="3943350"/>
              </a:tblGrid>
              <a:tr h="714375">
                <a:tc>
                  <a:txBody>
                    <a:bodyPr/>
                    <a:lstStyle/>
                    <a:p>
                      <a:r>
                        <a:t>方向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上线内容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用户价值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内容资源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接入贝瓦上万首曲库资源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扩充儿童音频内容供给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联网能力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支持时政新闻、百科、天气查询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提升实时信息获取能力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连接稳定性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弱网提示、自动重连、程序看门狗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降低断网与程序异常影响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主动交互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开机沉默至浅睡眠前5分钟自动攀谈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减少冷场，增强陪伴感</a:t>
                      </a:r>
                    </a:p>
                  </a:txBody>
                  <a:tcPr marL="91440" marR="91440" marT="45720" marB="45720"/>
                </a:tc>
              </a:tr>
              <a:tr h="714375">
                <a:tc>
                  <a:txBody>
                    <a:bodyPr/>
                    <a:lstStyle/>
                    <a:p>
                      <a:r>
                        <a:t>版本交付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4.8.6、4.8.8、4.9.1、4.9.6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完成测试、验收、灰度与全量发布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05012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标题 1">
            <a:extLst xmlns:a="http://schemas.openxmlformats.org/drawingml/2006/main">
              <a:ext uri="{FF2B5EF4-FFF2-40B4-BE49-F238E27FC236}">
                <a16:creationId xmlns:a16="http://schemas.microsoft.com/office/drawing/2014/main" id="{71D8F226-533B-4B86-ADE4-CFB59B2FF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1.1 冷启动优化：关键场景均明显提速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1000125" y="1762125"/>
          <a:ext xmlns:a="http://schemas.openxmlformats.org/drawingml/2006/main" cx="9906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a5b5b3f1b94532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47440-D87C-4688-97B2-F883C66C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38800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WiFi开机对话由30秒降至15秒，提速50%；4G深睡唤醒由20秒降至15秒，提速25%</a:t>
            </a:r>
          </a:p>
        </p:txBody>
      </p:sp>
    </p:spTree>
    <p:extLst>
      <p:ext uri="{BB962C8B-B14F-4D97-AF65-F5344CB8AC3E}">
        <p14:creationId xmlns:p14="http://schemas.microsoft.com/office/powerpoint/2010/main" val="13445621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标题 1">
            <a:extLst xmlns:a="http://schemas.openxmlformats.org/drawingml/2006/main">
              <a:ext uri="{FF2B5EF4-FFF2-40B4-BE49-F238E27FC236}">
                <a16:creationId xmlns:a16="http://schemas.microsoft.com/office/drawing/2014/main" id="{5F7C1BAC-11B9-45CA-96E5-49933279E2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1.2 对话速度优化专项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CC710C-43EA-4D57-A484-69FA414F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围绕“听不清”和“响应慢”两类问题，缩短处理链路并提高端侧稳定性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838200" y="2143125"/>
          <a:ext xmlns:a="http://schemas.openxmlformats.org/drawingml/2006/main" cx="105156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810250"/>
                <a:gridCol w="2990850"/>
              </a:tblGrid>
              <a:tr h="733425">
                <a:tc>
                  <a:txBody>
                    <a:bodyPr/>
                    <a:lstStyle/>
                    <a:p>
                      <a:r>
                        <a:t>优化层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具体调整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变化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固件端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优化收音阈值，调整唤醒词逻辑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提升收音与唤醒稳定性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上下文策略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召回轮次由20轮调整为5轮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处理轮次减少75%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提示词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人格生成提示词优化；约4000字符压缩至约600字符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提示词长度减少约85%</a:t>
                      </a:r>
                    </a:p>
                  </a:txBody>
                  <a:tcPr marL="91440" marR="91440" marT="45720" marB="45720"/>
                </a:tc>
              </a:tr>
              <a:tr h="733425">
                <a:tc>
                  <a:txBody>
                    <a:bodyPr/>
                    <a:lstStyle/>
                    <a:p>
                      <a:r>
                        <a:t>服务端链路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意图路由增加前置判断，优化资源预加载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减少无效处理与等待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5923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2. 功能设计与产品调研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5156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858000"/>
                <a:gridCol w="1847850"/>
              </a:tblGrid>
              <a:tr h="632732">
                <a:tc>
                  <a:txBody>
                    <a:bodyPr/>
                    <a:lstStyle/>
                    <a:p>
                      <a:r>
                        <a:t>方向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阶段产出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声纹识别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完成玩偶端与小程序功能、需求设计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待开发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硬件产品矩阵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完成机芯、玩偶版本及其他设备规划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UJM分析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完成fuzozo与小乐用户旅程对比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智能硬件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完成AI眼镜、智能耳机竞品体验分析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机器人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完成调研文档撰写并参与相关展会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  <a:tr h="632732">
                <a:tc>
                  <a:txBody>
                    <a:bodyPr/>
                    <a:lstStyle/>
                    <a:p>
                      <a:r>
                        <a:t>对话竞品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完成芷间智伴、涂鸦、fuzozo测试记录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 重点项目进展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714500"/>
          <a:ext xmlns:a="http://schemas.openxmlformats.org/drawingml/2006/main" cx="105156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4238625"/>
                <a:gridCol w="2190750"/>
                <a:gridCol w="2657475"/>
              </a:tblGrid>
              <a:tr h="876300"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8-9月进展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当前状态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下一步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福瑞达V5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PO主导联调，每日跟踪；0904前完成固件提测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因直播及线上版本优化暂缓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10月重启内测并完成验证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直播支持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设备调试、提示词、人设风格、示例对话测试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持续复盘优化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沉淀稳定的人设与对话方案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NFC故事阅读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完成制卡、打样、数据写入与测试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已完成打样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推进内容与交互测试</a:t>
                      </a:r>
                    </a:p>
                  </a:txBody>
                  <a:tcPr marL="91440" marR="91440" marT="45720" marB="45720"/>
                </a:tc>
              </a:tr>
              <a:tr h="876300">
                <a:tc>
                  <a:txBody>
                    <a:bodyPr/>
                    <a:lstStyle/>
                    <a:p>
                      <a:r>
                        <a:t>涂鸦云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小程序SDK接入60%；配网、联网流程打通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数据上报未打通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10月完成对接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3.1 涂鸦云接入进展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1190625" y="1857375"/>
          <a:ext xmlns:a="http://schemas.openxmlformats.org/drawingml/2006/main" cx="9525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f7e105d1e14dcd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B75B2-2F79-4D6E-9072-9179913D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340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当前关键阻塞点：数据上报链路尚未打通；目标在10月完成整体对接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4. 版本管理与发版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3286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1571625"/>
                <a:gridCol w="1571625"/>
                <a:gridCol w="1571625"/>
                <a:gridCol w="2000250"/>
                <a:gridCol w="1990725"/>
              </a:tblGrid>
              <a:tr h="657225">
                <a:tc>
                  <a:txBody>
                    <a:bodyPr/>
                    <a:lstStyle/>
                    <a:p>
                      <a:r>
                        <a:t>固件版本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测试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验收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灰度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全量发布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公告传达</a:t>
                      </a:r>
                    </a:p>
                  </a:txBody>
                  <a:tcPr marL="91440" marR="91440" marT="45720" marB="45720"/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4.8.6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4.8.8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4.9.1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t>4.9.6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166534"/>
                          </a:solidFill>
                        </a:rPr>
                        <a:t>完成</a:t>
                      </a:r>
                    </a:p>
                  </a:txBody>
                  <a:tcPr marL="91440" marR="91440" marT="45720" marB="45720">
                    <a:solidFill>
                      <a:srgbClr val="DCEFE3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0A8571-BBD5-48BB-9080-339A38A6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4个版本均完成测试、验收、灰度、全量发布及版本公告闭环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5. 硬件产品矩阵规划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838200" y="1666875"/>
          <a:ext xmlns:a="http://schemas.openxmlformats.org/drawingml/2006/main" cx="10515600" cy="4524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33500"/>
                <a:gridCol w="1714500"/>
                <a:gridCol w="3714750"/>
                <a:gridCol w="1952625"/>
                <a:gridCol w="1800225"/>
              </a:tblGrid>
              <a:tr h="646339">
                <a:tc>
                  <a:txBody>
                    <a:bodyPr/>
                    <a:lstStyle/>
                    <a:p>
                      <a:r>
                        <a:t>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产品/版本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核心升级方向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Q4节点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参考上市节奏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玩偶本体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小乐V2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NFC、主动攀谈、多人格、多音色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11月上线并优化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11月中旬至12月中旬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玩偶本体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小乐V3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肢体动作、触摸、声纹、NFC换装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12月中旬至次年1月底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便携系列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小乐包挂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设备记忆、定位查找、触摸反馈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10月完成打样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便携系列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其他IP包挂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IP包挂及来电方案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11月完成打样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探索系列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吧唧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4G对话、跨设备记忆、定位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11月打样，方案二选一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12月中旬</a:t>
                      </a:r>
                    </a:p>
                  </a:txBody>
                  <a:tcPr marL="91440" marR="91440" marT="45720" marB="45720"/>
                </a:tc>
              </a:tr>
              <a:tr h="646339">
                <a:tc>
                  <a:txBody>
                    <a:bodyPr/>
                    <a:lstStyle/>
                    <a:p>
                      <a:r>
                        <a:t>探索系列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AI放大镜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图像回传、多语言对话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12月推进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次年1月底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6. 四季度 Roadmap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838200" y="1952625"/>
          <a:ext xmlns:a="http://schemas.openxmlformats.org/drawingml/2006/main" cx="105156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3333750"/>
                <a:gridCol w="2952750"/>
                <a:gridCol w="2800350"/>
              </a:tblGrid>
              <a:tr h="857250">
                <a:tc>
                  <a:txBody>
                    <a:bodyPr/>
                    <a:lstStyle/>
                    <a:p>
                      <a:r>
                        <a:t>月份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硬件产品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软件与平台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关键验收点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10月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小乐包挂打样；V5机芯进入打样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完成涂鸦对接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V5机芯验证完成；涂鸦数据链路打通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11月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其他款包挂打样；吧唧打样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小乐V2上线与功能优化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吧唧在涂鸦与定制方案中完成选型</a:t>
                      </a:r>
                    </a:p>
                  </a:txBody>
                  <a:tcPr marL="91440" marR="91440" marT="45720" marB="45720"/>
                </a:tc>
              </a:tr>
              <a:tr h="85725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12月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AI放大镜推进；小乐V3打样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V2小乐功能优化升级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V3完成肢体动作与触摸能力验证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BCA389-E22B-4875-BBB7-093920AF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6737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主线：硬件打样与验证并行推进，小乐版本能力持续迭代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标题 1">
            <a:extLst xmlns:a="http://schemas.openxmlformats.org/drawingml/2006/main">
              <a:ext uri="{FF2B5EF4-FFF2-40B4-BE49-F238E27FC236}">
                <a16:creationId xmlns:a16="http://schemas.microsoft.com/office/drawing/2014/main" id="{38E486DB-C2B8-4A09-8549-E2587398B1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b="1">
                <a:solidFill>
                  <a:srgbClr val="277C4F">
                    <a:alpha val="100000"/>
                  </a:srgbClr>
                </a:solidFill>
              </a:rPr>
              <a:t>7. 四季度工作思路</a:t>
            </a:r>
            <a:endParaRPr b="1">
              <a:solidFill>
                <a:srgbClr val="277C4F">
                  <a:alpha val="100000"/>
                </a:srgbClr>
              </a:solidFill>
            </a:endParaRPr>
          </a:p>
        </p:txBody>
      </p:sp>
      <p:sp>
        <p:nvSpPr>
          <p:cNvPr id="18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D8FD9CB-7061-407D-A634-A763D6A1D08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4400550"/>
            <a:ext cx="10515600" cy="161925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硬件、固件、服务端与小程序多端协同，提前识别接口和排期依赖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线上版本问题优先保障，建立快速定位、验证和回滚机制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  <a:p xmlns:a="http://schemas.openxmlformats.org/drawingml/2006/main">
            <a:pPr algn="l">
              <a:buFont typeface="Arial"/>
              <a:buChar char="•"/>
              <a:defRPr sz="1575">
                <a:solidFill>
                  <a:srgbClr val="202124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202124"/>
                </a:solidFill>
                <a:latin typeface="Arial"/>
                <a:ea typeface="Arial"/>
                <a:cs typeface="Arial"/>
              </a:rPr>
              <a:t>以月度交付节点为准，持续跟踪打样、验证、上线和复盘闭环</a:t>
            </a:r>
            <a:endParaRPr sz="2000">
              <a:solidFill>
                <a:srgbClr val="A5A5A5">
                  <a:alpha val="100000"/>
                </a:srgbClr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67A11-AE9E-46D4-9A19-2646BBFE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项目推进机制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838200" y="2095500"/>
          <a:ext xmlns:a="http://schemas.openxmlformats.org/drawingml/2006/main" cx="1051560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095500"/>
                <a:gridCol w="2095500"/>
                <a:gridCol w="2095500"/>
                <a:gridCol w="2133600"/>
              </a:tblGrid>
              <a:tr h="762000">
                <a:tc>
                  <a:txBody>
                    <a:bodyPr/>
                    <a:lstStyle/>
                    <a:p>
                      <a:r>
                        <a:t>目标拆解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方案与排期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联调测试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灰度验证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复盘沉淀</a:t>
                      </a:r>
                    </a:p>
                  </a:txBody>
                  <a:tcPr marL="91440" marR="91440" marT="45720" marB="45720">
                    <a:solidFill>
                      <a:srgbClr val="27814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t>按月明确交付物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绑定负责人和依赖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每日跟踪问题清单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分批验证核心体验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更新Roadmap与规范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47FB3-6EBD-40FB-9858-170AF674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重点关注</a:t>
            </a:r>
          </a:p>
        </p:txBody>
      </p:sp>
    </p:spTree>
    <p:extLst>
      <p:ext uri="{BB962C8B-B14F-4D97-AF65-F5344CB8AC3E}">
        <p14:creationId xmlns:p14="http://schemas.microsoft.com/office/powerpoint/2010/main" val="397452589"/>
      </p:ext>
    </p:extLst>
  </p:cSld>
</p:sld>
</file>

<file path=ppt/theme/theme1.xml><?xml version="1.0" encoding="utf-8"?>
<a:theme xmlns:a="http://schemas.openxmlformats.org/drawingml/2006/main" name="企业微信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Tencen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2026-09-30T06:30:31.9100000Z</dcterms:created>
  <dcterms:modified xsi:type="dcterms:W3CDTF">2026-09-30T06:30:31.9100000Z</dcterms:modified>
</coreProperties>
</file>