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2c3d9fe2e74327" /><Relationship Type="http://schemas.openxmlformats.org/officeDocument/2006/relationships/extended-properties" Target="/docProps/app.xml" Id="R936bad81f80645e9" /><Relationship Type="http://schemas.openxmlformats.org/officeDocument/2006/relationships/officeDocument" Target="/ppt/presentation.xml" Id="R7896c1998c7c45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4f0555c7b645f7"/>
  </p:sldMasterIdLst>
  <p:notesMasterIdLst>
    <p:notesMasterId xmlns:r="http://schemas.openxmlformats.org/officeDocument/2006/relationships" r:id="Rb7312e0c61564d14"/>
  </p:notesMasterIdLst>
  <p:sldIdLst>
    <p:sldId xmlns:r="http://schemas.openxmlformats.org/officeDocument/2006/relationships" id="256" r:id="R23050f111eb44c2f"/>
    <p:sldId xmlns:r="http://schemas.openxmlformats.org/officeDocument/2006/relationships" id="257" r:id="R7ce4292e5f3846ee"/>
    <p:sldId xmlns:r="http://schemas.openxmlformats.org/officeDocument/2006/relationships" id="258" r:id="Rf014498c9aa44e17"/>
    <p:sldId xmlns:r="http://schemas.openxmlformats.org/officeDocument/2006/relationships" id="259" r:id="R45a6e21fc3214bd5"/>
    <p:sldId xmlns:r="http://schemas.openxmlformats.org/officeDocument/2006/relationships" id="260" r:id="R7f315e7e89bf4f68"/>
    <p:sldId xmlns:r="http://schemas.openxmlformats.org/officeDocument/2006/relationships" id="261" r:id="Re0bedd90ca7c4cfd"/>
    <p:sldId xmlns:r="http://schemas.openxmlformats.org/officeDocument/2006/relationships" id="262" r:id="R9bd846db59804153"/>
    <p:sldId xmlns:r="http://schemas.openxmlformats.org/officeDocument/2006/relationships" id="263" r:id="R8bc396d7487141aa"/>
    <p:sldId xmlns:r="http://schemas.openxmlformats.org/officeDocument/2006/relationships" id="264" r:id="Rdeea98deca7143df"/>
    <p:sldId xmlns:r="http://schemas.openxmlformats.org/officeDocument/2006/relationships" id="265" r:id="Rd140fd8013af4b3f"/>
    <p:sldId xmlns:r="http://schemas.openxmlformats.org/officeDocument/2006/relationships" id="266" r:id="Re69e877b9d5d415a"/>
    <p:sldId xmlns:r="http://schemas.openxmlformats.org/officeDocument/2006/relationships" id="267" r:id="R1b2d318655ec4c0a"/>
  </p:sldIdLst>
  <p:sldSz cx="12192000" cy="6858000"/>
  <p:notesSz cx="6858000" cy="9144000"/>
  <p:defaultTextStyle>
    <a:lvl1pPr xmlns:a="http://schemas.openxmlformats.org/drawingml/2006/main" marL="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1pPr>
    <a:lvl2pPr xmlns:a="http://schemas.openxmlformats.org/drawingml/2006/main" marL="4572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2pPr>
    <a:lvl3pPr xmlns:a="http://schemas.openxmlformats.org/drawingml/2006/main" marL="9144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3pPr>
    <a:lvl4pPr xmlns:a="http://schemas.openxmlformats.org/drawingml/2006/main" marL="13716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4pPr>
    <a:lvl5pPr xmlns:a="http://schemas.openxmlformats.org/drawingml/2006/main" marL="18288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5pPr>
    <a:lvl6pPr xmlns:a="http://schemas.openxmlformats.org/drawingml/2006/main" marL="22860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6pPr>
    <a:lvl7pPr xmlns:a="http://schemas.openxmlformats.org/drawingml/2006/main" marL="27432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7pPr>
    <a:lvl8pPr xmlns:a="http://schemas.openxmlformats.org/drawingml/2006/main" marL="32004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8pPr>
    <a:lvl9pPr xmlns:a="http://schemas.openxmlformats.org/drawingml/2006/main" marL="36576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10d8dc339a4c40" /><Relationship Type="http://schemas.openxmlformats.org/officeDocument/2006/relationships/slideMaster" Target="/ppt/slideMasters/slideMaster1.xml" Id="Ra74f0555c7b645f7" /><Relationship Type="http://schemas.openxmlformats.org/officeDocument/2006/relationships/notesMaster" Target="/ppt/notesMasters/notesMaster1.xml" Id="Rb7312e0c61564d14" /><Relationship Type="http://schemas.openxmlformats.org/officeDocument/2006/relationships/presProps" Target="/ppt/presProps.xml" Id="R27c05ce828284b90" /><Relationship Type="http://schemas.openxmlformats.org/officeDocument/2006/relationships/viewProps" Target="/ppt/viewProps.xml" Id="R1ed799baacd04b76" /><Relationship Type="http://schemas.openxmlformats.org/officeDocument/2006/relationships/tableStyles" Target="/ppt/tableStyles.xml" Id="Rf417bf111fcf456e" /><Relationship Type="http://schemas.openxmlformats.org/officeDocument/2006/relationships/slide" Target="/ppt/slides/slide1.xml" Id="R23050f111eb44c2f" /><Relationship Type="http://schemas.openxmlformats.org/officeDocument/2006/relationships/slide" Target="/ppt/slides/slide2.xml" Id="R7ce4292e5f3846ee" /><Relationship Type="http://schemas.openxmlformats.org/officeDocument/2006/relationships/slide" Target="/ppt/slides/slide3.xml" Id="Rf014498c9aa44e17" /><Relationship Type="http://schemas.openxmlformats.org/officeDocument/2006/relationships/slide" Target="/ppt/slides/slide4.xml" Id="R45a6e21fc3214bd5" /><Relationship Type="http://schemas.openxmlformats.org/officeDocument/2006/relationships/slide" Target="/ppt/slides/slide5.xml" Id="R7f315e7e89bf4f68" /><Relationship Type="http://schemas.openxmlformats.org/officeDocument/2006/relationships/slide" Target="/ppt/slides/slide6.xml" Id="Re0bedd90ca7c4cfd" /><Relationship Type="http://schemas.openxmlformats.org/officeDocument/2006/relationships/slide" Target="/ppt/slides/slide7.xml" Id="R9bd846db59804153" /><Relationship Type="http://schemas.openxmlformats.org/officeDocument/2006/relationships/slide" Target="/ppt/slides/slide8.xml" Id="R8bc396d7487141aa" /><Relationship Type="http://schemas.openxmlformats.org/officeDocument/2006/relationships/slide" Target="/ppt/slides/slide9.xml" Id="Rdeea98deca7143df" /><Relationship Type="http://schemas.openxmlformats.org/officeDocument/2006/relationships/slide" Target="/ppt/slides/slide10.xml" Id="Rd140fd8013af4b3f" /><Relationship Type="http://schemas.openxmlformats.org/officeDocument/2006/relationships/slide" Target="/ppt/slides/slide11.xml" Id="Re69e877b9d5d415a" /><Relationship Type="http://schemas.openxmlformats.org/officeDocument/2006/relationships/slide" Target="/ppt/slides/slide12.xml" Id="R1b2d318655ec4c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b17e7ebd4243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企业微信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Tencen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786e7d11504d7e" /><Relationship Type="http://schemas.openxmlformats.org/officeDocument/2006/relationships/notesMaster" Target="/ppt/notesMasters/notesMaster1.xml" Id="Rf633b1424b8443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fd9bc0351140df" /><Relationship Type="http://schemas.openxmlformats.org/officeDocument/2006/relationships/notesMaster" Target="/ppt/notesMasters/notesMaster1.xml" Id="Rb7d100cff3c142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7d843ccb4042bd" /><Relationship Type="http://schemas.openxmlformats.org/officeDocument/2006/relationships/notesMaster" Target="/ppt/notesMasters/notesMaster1.xml" Id="R2d3400c1e1bf42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4f971b313e4e9d" /><Relationship Type="http://schemas.openxmlformats.org/officeDocument/2006/relationships/notesMaster" Target="/ppt/notesMasters/notesMaster1.xml" Id="R3fc41e5589ea44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50eb0f31cb480e" /><Relationship Type="http://schemas.openxmlformats.org/officeDocument/2006/relationships/notesMaster" Target="/ppt/notesMasters/notesMaster1.xml" Id="R288da5e024524d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a10c1ef1114fd0" /><Relationship Type="http://schemas.openxmlformats.org/officeDocument/2006/relationships/notesMaster" Target="/ppt/notesMasters/notesMaster1.xml" Id="Rcac1d94a39024d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7376815272468b" /><Relationship Type="http://schemas.openxmlformats.org/officeDocument/2006/relationships/notesMaster" Target="/ppt/notesMasters/notesMaster1.xml" Id="R42cd4618958240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622b2cae8d4cfb" /><Relationship Type="http://schemas.openxmlformats.org/officeDocument/2006/relationships/notesMaster" Target="/ppt/notesMasters/notesMaster1.xml" Id="R3c2bf7793b5e44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d4b820fdf54180" /><Relationship Type="http://schemas.openxmlformats.org/officeDocument/2006/relationships/notesMaster" Target="/ppt/notesMasters/notesMaster1.xml" Id="Rf15f6ac2250b48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3b10db41a541d2" /><Relationship Type="http://schemas.openxmlformats.org/officeDocument/2006/relationships/notesMaster" Target="/ppt/notesMasters/notesMaster1.xml" Id="Rfef56348d01c4e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33ad47dbf746f1" /><Relationship Type="http://schemas.openxmlformats.org/officeDocument/2006/relationships/notesMaster" Target="/ppt/notesMasters/notesMaster1.xml" Id="Rcde4a879817044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5cafef94f546e9" /><Relationship Type="http://schemas.openxmlformats.org/officeDocument/2006/relationships/notesMaster" Target="/ppt/notesMasters/notesMaster1.xml" Id="R665bee5278a548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硬件产品矩阵与上市节奏依据用户提供的《硬件矩阵规划表》参考图整理。Q4节点以用户本次更新的计划为准。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Roadmap依据用户提供的规划表参考图及本次明确的10月至12月计划整理。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7aa14a2e394d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f9383340b84eb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d0d1e430f540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8de096039f47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5ed8c9ffde40d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ab83121ac842f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d79e5a71954d4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200cb1f2cf49b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4957b78c6e4b8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0b1b737b794d1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f9c715b41c451c" /></Relationships>
</file>

<file path=ppt/slideLayouts/slideLayout1.xml><?xml version="1.0" encoding="utf-8"?>
<p:sldLayout xmlns:p="http://schemas.openxmlformats.org/presentationml/2006/main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B17230-0BA7-4A7B-9808-4F23152DB25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D0B1C2B-1699-42EB-825C-FE3670E04A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574ADA3-4D43-403A-95C8-21C00C88F8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2F99851-E783-4379-ACFA-3ECC8B294E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56E8A14-5803-47FC-8BE3-5D11DE4D9E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FDC587FC-379F-4AD1-8E9F-C3F80D53B7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9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82B2CFD-2276-4041-A89F-28AE8C8FEE6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10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ECEB4D0-FB33-409C-8113-E639EBBE9C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E75693F-77AF-4270-AC91-6D1BD25782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0F261-FEE1-46DE-A36E-C221D51D9B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标题 1">
            <a:extLst xmlns:a="http://schemas.openxmlformats.org/drawingml/2006/main">
              <a:ext uri="{FF2B5EF4-FFF2-40B4-BE49-F238E27FC236}">
                <a16:creationId xmlns:a16="http://schemas.microsoft.com/office/drawing/2014/main" id="{E37CF83A-5A35-4745-9D62-4DD8579F8B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21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2B16BBE-A0AE-4A6F-80B9-56C9403D85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22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1DF1F2-8120-48D8-A90B-3245E6BD43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332220F-4EDE-4542-A6D4-119580CD14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C87ADEE-FFD8-49B1-A345-B2D04C6E0D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标题 1">
            <a:extLst xmlns:a="http://schemas.openxmlformats.org/drawingml/2006/main">
              <a:ext uri="{FF2B5EF4-FFF2-40B4-BE49-F238E27FC236}">
                <a16:creationId xmlns:a16="http://schemas.microsoft.com/office/drawing/2014/main" id="{D52254DA-7F45-4738-9CEC-A3B48890FA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27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DEEC63C-3102-459F-9BF4-0383200782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28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DBCF219-EE7B-4009-A9DC-3C499D70E95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29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B9A7496-4DA9-4AD1-85C3-E52F137C57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879E29A-0BBD-4C57-85E5-39D633258E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A16D0C2-D2EE-4D06-A285-1071D27C58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标题 1">
            <a:extLst xmlns:a="http://schemas.openxmlformats.org/drawingml/2006/main">
              <a:ext uri="{FF2B5EF4-FFF2-40B4-BE49-F238E27FC236}">
                <a16:creationId xmlns:a16="http://schemas.microsoft.com/office/drawing/2014/main" id="{510D62BF-C106-49F1-9B3B-E5544543AA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4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F5EF52C-141C-4853-AF3F-8297835C17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35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25F572A-EBFF-40CA-8330-13CF1FB1F52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36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EC886FB4-F5D8-4373-83C9-432FBEF2FAA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37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8DB5C236-4A49-4F91-960B-B64878629D1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38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B4654401-F24F-4FF0-BB61-C7E9C3BB43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EB3A2431-A198-46D3-B8CC-4880589B69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8F73D4F-C3A3-4672-A6C5-4C0E941EC3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标题 1">
            <a:extLst xmlns:a="http://schemas.openxmlformats.org/drawingml/2006/main">
              <a:ext uri="{FF2B5EF4-FFF2-40B4-BE49-F238E27FC236}">
                <a16:creationId xmlns:a16="http://schemas.microsoft.com/office/drawing/2014/main" id="{6B4EC306-A54C-4743-A9E4-BF7DF341FA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4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3320F37-E981-4C1C-B1C3-6C08857521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8A18DAD-6FB1-4E52-808E-3F366B9B39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98C2191-337B-4713-BD14-774F529E14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3DA058BE-4DF4-4C4A-9ED2-01EB596FDF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7C91D11B-EE90-4726-B3AD-ECA48CCEF3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9AF3BAD-3B29-4A41-8D94-72B5F1221F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标题 1">
            <a:extLst xmlns:a="http://schemas.openxmlformats.org/drawingml/2006/main">
              <a:ext uri="{FF2B5EF4-FFF2-40B4-BE49-F238E27FC236}">
                <a16:creationId xmlns:a16="http://schemas.microsoft.com/office/drawing/2014/main" id="{BE91588E-3E22-4C20-A9C4-E398F58D9B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52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8B9D8D2-A45E-4AB0-B6B8-61C3795A07F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3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DEB0AD1-5E5B-4EA6-8255-BF02CA0BF3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4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695E8D9-CFBC-4F53-96B0-1F56D77C12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DF21F98-0A8F-438B-9394-411C7930F6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6AD6BF0-027C-4E53-BBBC-E4F45EA30B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标题 1">
            <a:extLst xmlns:a="http://schemas.openxmlformats.org/drawingml/2006/main">
              <a:ext uri="{FF2B5EF4-FFF2-40B4-BE49-F238E27FC236}">
                <a16:creationId xmlns:a16="http://schemas.microsoft.com/office/drawing/2014/main" id="{11D3A4BA-C77B-4CDD-99D1-A779B12B71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59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BAC954A-BC68-4BA1-9708-DAB16198DB2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60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280CFE2-C6C3-4220-9462-0233F79590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1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EBE9505-22D1-4A82-98B1-DC40A3D7C3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67EED48-3ADE-491A-AD1C-FA55335758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71ADA8D-5677-4558-A8F1-025705AF1C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标题 1">
            <a:extLst xmlns:a="http://schemas.openxmlformats.org/drawingml/2006/main">
              <a:ext uri="{FF2B5EF4-FFF2-40B4-BE49-F238E27FC236}">
                <a16:creationId xmlns:a16="http://schemas.microsoft.com/office/drawing/2014/main" id="{12AC4188-C3B9-42E8-BA3E-028ED5125E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66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2DBC7E2-142E-4F21-877B-6679F44A1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6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E3B3530-9CFD-4608-84BE-43134AFAD4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5EDC66B-3EF1-4902-A16B-CA828B6062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CA21C92-29B4-498F-BED4-2496E13166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84ECFC78-530F-42CF-88B8-D9E3865352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15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AF5A528-A18D-4081-BF18-FCA09BF94C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16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CECAF1E-5AAE-414A-A410-509D0CBA42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534ECDA-A8DD-4F1A-AB9B-EE70D5B13E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6D23E9F-7AFD-4062-98B5-63C829ED4F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6b06627892974bd2" /><Relationship Type="http://schemas.openxmlformats.org/officeDocument/2006/relationships/theme" Target="/ppt/slideMasters/theme/theme2.xml" Id="R1595960f509645df" /><Relationship Type="http://schemas.openxmlformats.org/officeDocument/2006/relationships/slideLayout" Target="/ppt/slideLayouts/slideLayout1.xml" Id="R52f6714eb7c14b70" /><Relationship Type="http://schemas.openxmlformats.org/officeDocument/2006/relationships/slideLayout" Target="/ppt/slideLayouts/slideLayout2.xml" Id="R72c5768b08084d32" /><Relationship Type="http://schemas.openxmlformats.org/officeDocument/2006/relationships/slideLayout" Target="/ppt/slideLayouts/slideLayout3.xml" Id="R939e1a0e864e4d64" /><Relationship Type="http://schemas.openxmlformats.org/officeDocument/2006/relationships/slideLayout" Target="/ppt/slideLayouts/slideLayout4.xml" Id="R1e6aed2c2a314c4b" /><Relationship Type="http://schemas.openxmlformats.org/officeDocument/2006/relationships/slideLayout" Target="/ppt/slideLayouts/slideLayout5.xml" Id="R661ce93725554abe" /><Relationship Type="http://schemas.openxmlformats.org/officeDocument/2006/relationships/slideLayout" Target="/ppt/slideLayouts/slideLayout6.xml" Id="Rbc40396885954cf8" /><Relationship Type="http://schemas.openxmlformats.org/officeDocument/2006/relationships/slideLayout" Target="/ppt/slideLayouts/slideLayout7.xml" Id="R58ab272b52fb4649" /><Relationship Type="http://schemas.openxmlformats.org/officeDocument/2006/relationships/slideLayout" Target="/ppt/slideLayouts/slideLayout8.xml" Id="Rb1e334628dae4a4e" /><Relationship Type="http://schemas.openxmlformats.org/officeDocument/2006/relationships/slideLayout" Target="/ppt/slideLayouts/slideLayout9.xml" Id="R5fbeaf684ff3402e" /><Relationship Type="http://schemas.openxmlformats.org/officeDocument/2006/relationships/slideLayout" Target="/ppt/slideLayouts/slideLayout10.xml" Id="R36df2f97d3a14eb1" /><Relationship Type="http://schemas.openxmlformats.org/officeDocument/2006/relationships/slideLayout" Target="/ppt/slideLayouts/slideLayout11.xml" Id="R27cbd0d2204d426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3367C53-C1EC-463D-BF31-19F1AF1B67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43209AB-8A29-4617-BFD6-D27297E5A4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ADBA2F7-CDDC-4D73-8726-AD8DE1B1AF6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9396629-4EF5-4A3E-9017-24058368ADE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B65F013-8FEC-467D-B8C9-3D20AD7E77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pic>
        <p:nvPicPr>
          <p:cNvPr id="13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06627892974b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98015" y="50800"/>
            <a:ext cx="1704283" cy="327025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f6714eb7c14b70"/>
    <p:sldLayoutId xmlns:r="http://schemas.openxmlformats.org/officeDocument/2006/relationships" id="2147483650" r:id="R72c5768b08084d32"/>
    <p:sldLayoutId xmlns:r="http://schemas.openxmlformats.org/officeDocument/2006/relationships" id="2147483651" r:id="R939e1a0e864e4d64"/>
    <p:sldLayoutId xmlns:r="http://schemas.openxmlformats.org/officeDocument/2006/relationships" id="2147483652" r:id="R1e6aed2c2a314c4b"/>
    <p:sldLayoutId xmlns:r="http://schemas.openxmlformats.org/officeDocument/2006/relationships" id="2147483653" r:id="R661ce93725554abe"/>
    <p:sldLayoutId xmlns:r="http://schemas.openxmlformats.org/officeDocument/2006/relationships" id="2147483654" r:id="Rbc40396885954cf8"/>
    <p:sldLayoutId xmlns:r="http://schemas.openxmlformats.org/officeDocument/2006/relationships" id="2147483655" r:id="R58ab272b52fb4649"/>
    <p:sldLayoutId xmlns:r="http://schemas.openxmlformats.org/officeDocument/2006/relationships" id="2147483656" r:id="Rb1e334628dae4a4e"/>
    <p:sldLayoutId xmlns:r="http://schemas.openxmlformats.org/officeDocument/2006/relationships" id="2147483657" r:id="R5fbeaf684ff3402e"/>
    <p:sldLayoutId xmlns:r="http://schemas.openxmlformats.org/officeDocument/2006/relationships" id="2147483658" r:id="R36df2f97d3a14eb1"/>
    <p:sldLayoutId xmlns:r="http://schemas.openxmlformats.org/officeDocument/2006/relationships" id="2147483659" r:id="R27cbd0d2204d426f"/>
  </p:sldLayoutIdLst>
  <p:txStyles>
    <p:titleStyle>
      <a:lvl1pPr xmlns:a="http://schemas.openxmlformats.org/drawingml/2006/main" algn="l" defTabSz="914400">
        <a:lnSpc>
          <a:spcPct val="130000"/>
        </a:lnSpc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企业微信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Tencen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f4ffbd3514b90" /><Relationship Type="http://schemas.openxmlformats.org/officeDocument/2006/relationships/notesSlide" Target="/ppt/notesSlides/notesSlide1.xml" Id="R9434717b278a45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6c2fbb64d74ab1" /><Relationship Type="http://schemas.openxmlformats.org/officeDocument/2006/relationships/notesSlide" Target="/ppt/notesSlides/notesSlide2.xml" Id="R91cb917da30649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88be0161d14e73" /><Relationship Type="http://schemas.openxmlformats.org/officeDocument/2006/relationships/notesSlide" Target="/ppt/notesSlides/notesSlide3.xml" Id="R22f53be826e942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81f11aad0a4310" /><Relationship Type="http://schemas.openxmlformats.org/officeDocument/2006/relationships/chart" Target="/ppt/slides/charts/chart1.xml" Id="Re33ab3dbe16c43a6" /><Relationship Type="http://schemas.openxmlformats.org/officeDocument/2006/relationships/notesSlide" Target="/ppt/notesSlides/notesSlide4.xml" Id="R9f43d10f2e5746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551c2865e14cda" /><Relationship Type="http://schemas.openxmlformats.org/officeDocument/2006/relationships/notesSlide" Target="/ppt/notesSlides/notesSlide5.xml" Id="R4548a956cd0c40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9f4f27b85943da" /><Relationship Type="http://schemas.openxmlformats.org/officeDocument/2006/relationships/notesSlide" Target="/ppt/notesSlides/notesSlide6.xml" Id="Rbfd2a6a5d58d4f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405f01afaa4ad8" /><Relationship Type="http://schemas.openxmlformats.org/officeDocument/2006/relationships/notesSlide" Target="/ppt/notesSlides/notesSlide7.xml" Id="R429dbef46c644c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99fe64b2774c0d" /><Relationship Type="http://schemas.openxmlformats.org/officeDocument/2006/relationships/chart" Target="/ppt/slides/charts/chart2.xml" Id="R963ae3657c8047f6" /><Relationship Type="http://schemas.openxmlformats.org/officeDocument/2006/relationships/notesSlide" Target="/ppt/notesSlides/notesSlide8.xml" Id="R19dfe083a47b4a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b2ef5a8ebf4c99" /><Relationship Type="http://schemas.openxmlformats.org/officeDocument/2006/relationships/notesSlide" Target="/ppt/notesSlides/notesSlide9.xml" Id="Rfebf51b14a3143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ab4d2d36b844b1" /><Relationship Type="http://schemas.openxmlformats.org/officeDocument/2006/relationships/notesSlide" Target="/ppt/notesSlides/notesSlide10.xml" Id="R36523b833d2848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407bcc63674840" /><Relationship Type="http://schemas.openxmlformats.org/officeDocument/2006/relationships/notesSlide" Target="/ppt/notesSlides/notesSlide11.xml" Id="R4d5aa60d0c6448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9f0da0b1854d6a" /><Relationship Type="http://schemas.openxmlformats.org/officeDocument/2006/relationships/notesSlide" Target="/ppt/notesSlides/notesSlide12.xml" Id="R8a64deeb54434d3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优化前</c:v>
          </c:tx>
          <c:spPr>
            <a:solidFill xmlns:a="http://schemas.openxmlformats.org/drawingml/2006/main">
              <a:srgbClr val="A7AFB5"/>
            </a:solidFill>
          </c:spPr>
          <c:cat>
            <c:strLit>
              <c:ptCount val="4"/>
              <c:pt idx="0">
                <c:v>WiFi开机对话</c:v>
              </c:pt>
              <c:pt idx="1">
                <c:v>WiFi深睡唤醒</c:v>
              </c:pt>
              <c:pt idx="2">
                <c:v>4G开机对话</c:v>
              </c:pt>
              <c:pt idx="3">
                <c:v>4G深睡唤醒</c:v>
              </c:pt>
            </c:strLit>
          </c:cat>
          <c:val>
            <c:numLit>
              <c:formatCode>0"秒"</c:formatCode>
              <c:ptCount val="4"/>
              <c:pt idx="0">
                <c:v>30</c:v>
              </c:pt>
              <c:pt idx="1">
                <c:v>13</c:v>
              </c:pt>
              <c:pt idx="2">
                <c:v>30</c:v>
              </c:pt>
              <c:pt idx="3">
                <c:v>20</c:v>
              </c:pt>
            </c:numLit>
          </c:val>
        </c:ser>
        <c:ser>
          <c:idx val="1"/>
          <c:order val="1"/>
          <c:tx>
            <c:v>优化后</c:v>
          </c:tx>
          <c:spPr>
            <a:solidFill xmlns:a="http://schemas.openxmlformats.org/drawingml/2006/main">
              <a:srgbClr val="27814F"/>
            </a:solidFill>
          </c:spPr>
          <c:cat>
            <c:strLit>
              <c:ptCount val="4"/>
              <c:pt idx="0">
                <c:v>WiFi开机对话</c:v>
              </c:pt>
              <c:pt idx="1">
                <c:v>WiFi深睡唤醒</c:v>
              </c:pt>
              <c:pt idx="2">
                <c:v>4G开机对话</c:v>
              </c:pt>
              <c:pt idx="3">
                <c:v>4G深睡唤醒</c:v>
              </c:pt>
            </c:strLit>
          </c:cat>
          <c:val>
            <c:numLit>
              <c:formatCode>0"秒"</c:formatCode>
              <c:ptCount val="4"/>
              <c:pt idx="0">
                <c:v>15</c:v>
              </c:pt>
              <c:pt idx="1">
                <c:v>9</c:v>
              </c:pt>
              <c:pt idx="2">
                <c:v>25</c:v>
              </c:pt>
              <c:pt idx="3">
                <c:v>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20212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7E5"/>
              </a:solidFill>
              <a:prstDash val="solid"/>
            </a:ln>
          </c:spPr>
        </c:majorGridlines>
        <c:numFmt formatCode="0&quot;秒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202124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完成度</c:v>
          </c:tx>
          <c:spPr>
            <a:solidFill xmlns:a="http://schemas.openxmlformats.org/drawingml/2006/main">
              <a:srgbClr val="27814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E0A6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7814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7814F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C55A4A"/>
              </a:solidFill>
            </c:spPr>
          </c:dPt>
          <c:cat>
            <c:strLit>
              <c:ptCount val="4"/>
              <c:pt idx="0">
                <c:v>小程序SDK接入</c:v>
              </c:pt>
              <c:pt idx="1">
                <c:v>配网流程</c:v>
              </c:pt>
              <c:pt idx="2">
                <c:v>联网流程</c:v>
              </c:pt>
              <c:pt idx="3">
                <c:v>数据上报</c:v>
              </c:pt>
            </c:strLit>
          </c:cat>
          <c:val>
            <c:numLit>
              <c:formatCode>0%</c:formatCode>
              <c:ptCount val="4"/>
              <c:pt idx="0">
                <c:v>0.6</c:v>
              </c:pt>
              <c:pt idx="1">
                <c:v>1</c:v>
              </c:pt>
              <c:pt idx="2">
                <c:v>1</c:v>
              </c:pt>
              <c:pt idx="3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20212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7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2CFBC16-3F5A-4684-AE40-2896B3E0D32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季度工作汇报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  <a:p xmlns:a="http://schemas.openxmlformats.org/drawingml/2006/main">
            <a:pPr>
              <a:buNone/>
            </a:pPr>
            <a:r>
              <a:rPr sz="4000"/>
              <a:t>2026年8-9月</a:t>
            </a:r>
            <a:endParaRPr sz="4000"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224579E-4299-4E0B-A8BD-9276DD567C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38453" y="5441294"/>
            <a:ext cx="9144000" cy="61494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Font typeface="Arial"/>
              <a:buNone/>
            </a:pPr>
            <a:r>
              <a:t>养娃乐教育科技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430244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A2D8115A-B0C9-4DB1-982F-42C521EE17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工作职责与季度工作全景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6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F7B4ED9-E71E-404E-928B-28FD49D807E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39020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Font typeface="Arial"/>
              <a:buChar char="•"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/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38200" y="1809750"/>
          <a:ext xmlns:a="http://schemas.openxmlformats.org/drawingml/2006/main" cx="105156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4238625"/>
                <a:gridCol w="4657725"/>
              </a:tblGrid>
              <a:tr h="819150">
                <a:tc>
                  <a:txBody>
                    <a:bodyPr/>
                    <a:lstStyle/>
                    <a:p>
                      <a:r>
                        <a:t>工作领域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主要职责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8-9月重点产出</a:t>
                      </a:r>
                    </a:p>
                  </a:txBody>
                  <a:tcPr marL="91440" marR="91440" marT="45720" marB="45720"/>
                </a:tc>
              </a:tr>
              <a:tr h="819150">
                <a:tc>
                  <a:txBody>
                    <a:bodyPr/>
                    <a:lstStyle/>
                    <a:p>
                      <a:r>
                        <a:t>AI玩偶端侧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硬件端侧功能开发、迭代与体验优化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核心功能上线，冷启动与对话专项优化</a:t>
                      </a:r>
                    </a:p>
                  </a:txBody>
                  <a:tcPr marL="91440" marR="91440" marT="45720" marB="45720"/>
                </a:tc>
              </a:tr>
              <a:tr h="819150">
                <a:tc>
                  <a:txBody>
                    <a:bodyPr/>
                    <a:lstStyle/>
                    <a:p>
                      <a:r>
                        <a:t>协同软件端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小程序能力建设与跨端协同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声纹功能设计，涂鸦SDK接入60%</a:t>
                      </a:r>
                    </a:p>
                  </a:txBody>
                  <a:tcPr marL="91440" marR="91440" marT="45720" marB="45720"/>
                </a:tc>
              </a:tr>
              <a:tr h="819150">
                <a:tc>
                  <a:txBody>
                    <a:bodyPr/>
                    <a:lstStyle/>
                    <a:p>
                      <a:r>
                        <a:t>产品规划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Roadmap、产品矩阵与竞品调研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完成硬件矩阵、UJM与智能硬件调研</a:t>
                      </a:r>
                    </a:p>
                  </a:txBody>
                  <a:tcPr marL="91440" marR="91440" marT="45720" marB="45720"/>
                </a:tc>
              </a:tr>
              <a:tr h="819150">
                <a:tc>
                  <a:txBody>
                    <a:bodyPr/>
                    <a:lstStyle/>
                    <a:p>
                      <a:r>
                        <a:t>项目交付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联调测试、版本发布与跨团队推进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推进V5、直播、NFC项目，发布4个固件版本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7226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055915BC-BE81-4BEB-AB03-03D22DEC48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1. 核心终端功能上线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9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C6689F9-D818-4F35-A956-D1F018A0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>
              <a:solidFill>
                <a:srgbClr val="A5A5A5">
                  <a:alpha val="100000"/>
                </a:srgbClr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38200" y="1762125"/>
          <a:ext xmlns:a="http://schemas.openxmlformats.org/drawingml/2006/main" cx="105156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5048250"/>
                <a:gridCol w="3943350"/>
              </a:tblGrid>
              <a:tr h="714375">
                <a:tc>
                  <a:txBody>
                    <a:bodyPr/>
                    <a:lstStyle/>
                    <a:p>
                      <a:r>
                        <a:t>方向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上线内容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用户价值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内容资源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接入贝瓦上万首曲库资源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扩充儿童音频内容供给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联网能力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支持时政新闻、百科、天气查询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提升实时信息获取能力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连接稳定性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弱网提示、自动重连、程序看门狗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降低断网与程序异常影响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主动交互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开机沉默至浅睡眠前5分钟自动攀谈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减少冷场，增强陪伴感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版本交付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4.8.6、4.8.8、4.9.1、4.9.6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完成测试、验收、灰度与全量发布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05012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标题 1">
            <a:extLst xmlns:a="http://schemas.openxmlformats.org/drawingml/2006/main">
              <a:ext uri="{FF2B5EF4-FFF2-40B4-BE49-F238E27FC236}">
                <a16:creationId xmlns:a16="http://schemas.microsoft.com/office/drawing/2014/main" id="{71D8F226-533B-4B86-ADE4-CFB59B2FFC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1.1 冷启动优化：关键场景均明显提速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12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261E2A1-654F-428B-B850-3485C76367B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Font typeface="Arial"/>
              <a:buChar char="•"/>
              <a:defRPr sz="183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1000125" y="1762125"/>
          <a:ext xmlns:a="http://schemas.openxmlformats.org/drawingml/2006/main" cx="99060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3ab3dbe16c43a6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CC1DD7-E204-4C10-8EC2-8D650746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638800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WiFi开机对话由30秒降至15秒，提速50%；4G深睡唤醒由20秒降至15秒，提速25%</a:t>
            </a:r>
          </a:p>
        </p:txBody>
      </p:sp>
    </p:spTree>
    <p:extLst>
      <p:ext uri="{BB962C8B-B14F-4D97-AF65-F5344CB8AC3E}">
        <p14:creationId xmlns:p14="http://schemas.microsoft.com/office/powerpoint/2010/main" val="13445621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标题 1">
            <a:extLst xmlns:a="http://schemas.openxmlformats.org/drawingml/2006/main">
              <a:ext uri="{FF2B5EF4-FFF2-40B4-BE49-F238E27FC236}">
                <a16:creationId xmlns:a16="http://schemas.microsoft.com/office/drawing/2014/main" id="{5F7C1BAC-11B9-45CA-96E5-49933279E2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1.2 对话速度优化专项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15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7815AC9-3A72-47F4-804C-FCCF52BEAD4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Font typeface="Arial"/>
              <a:buChar char="•"/>
              <a:defRPr sz="183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CBFE83-5607-4035-8D1B-D8AFED95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围绕“听不清”和“响应慢”两类问题，缩短处理链路并提高端侧稳定性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838200" y="2143125"/>
          <a:ext xmlns:a="http://schemas.openxmlformats.org/drawingml/2006/main" cx="105156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5810250"/>
                <a:gridCol w="2990850"/>
              </a:tblGrid>
              <a:tr h="733425">
                <a:tc>
                  <a:txBody>
                    <a:bodyPr/>
                    <a:lstStyle/>
                    <a:p>
                      <a:r>
                        <a:t>优化层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具体调整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变化</a:t>
                      </a:r>
                    </a:p>
                  </a:txBody>
                  <a:tcPr marL="91440" marR="91440" marT="45720" marB="45720"/>
                </a:tc>
              </a:tr>
              <a:tr h="733425">
                <a:tc>
                  <a:txBody>
                    <a:bodyPr/>
                    <a:lstStyle/>
                    <a:p>
                      <a:r>
                        <a:t>固件端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优化收音阈值，调整唤醒词逻辑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提升收音与唤醒稳定性</a:t>
                      </a:r>
                    </a:p>
                  </a:txBody>
                  <a:tcPr marL="91440" marR="91440" marT="45720" marB="45720"/>
                </a:tc>
              </a:tr>
              <a:tr h="733425">
                <a:tc>
                  <a:txBody>
                    <a:bodyPr/>
                    <a:lstStyle/>
                    <a:p>
                      <a:r>
                        <a:t>上下文策略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召回轮次由20轮调整为5轮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处理轮次减少75%</a:t>
                      </a:r>
                    </a:p>
                  </a:txBody>
                  <a:tcPr marL="91440" marR="91440" marT="45720" marB="45720"/>
                </a:tc>
              </a:tr>
              <a:tr h="733425">
                <a:tc>
                  <a:txBody>
                    <a:bodyPr/>
                    <a:lstStyle/>
                    <a:p>
                      <a:r>
                        <a:t>提示词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人格生成提示词优化；约4000字符压缩至约600字符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提示词长度减少约85%</a:t>
                      </a:r>
                    </a:p>
                  </a:txBody>
                  <a:tcPr marL="91440" marR="91440" marT="45720" marB="45720"/>
                </a:tc>
              </a:tr>
              <a:tr h="733425">
                <a:tc>
                  <a:txBody>
                    <a:bodyPr/>
                    <a:lstStyle/>
                    <a:p>
                      <a:r>
                        <a:t>服务端链路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意图路由增加前置判断，优化资源预加载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减少无效处理与等待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55923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38E486DB-C2B8-4A09-8549-E2587398B1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2. 功能设计与产品调研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18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D8FD9CB-7061-407D-A634-A763D6A1D08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838200" y="1714500"/>
          <a:ext xmlns:a="http://schemas.openxmlformats.org/drawingml/2006/main" cx="105156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6858000"/>
                <a:gridCol w="1847850"/>
              </a:tblGrid>
              <a:tr h="632732">
                <a:tc>
                  <a:txBody>
                    <a:bodyPr/>
                    <a:lstStyle/>
                    <a:p>
                      <a:r>
                        <a:t>方向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阶段产出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 marL="91440" marR="91440" marT="45720" marB="45720"/>
                </a:tc>
              </a:tr>
              <a:tr h="632732">
                <a:tc>
                  <a:txBody>
                    <a:bodyPr/>
                    <a:lstStyle/>
                    <a:p>
                      <a:r>
                        <a:t>声纹识别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完成玩偶端与小程序功能、需求设计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待开发</a:t>
                      </a:r>
                    </a:p>
                  </a:txBody>
                  <a:tcPr marL="91440" marR="91440" marT="45720" marB="45720"/>
                </a:tc>
              </a:tr>
              <a:tr h="632732">
                <a:tc>
                  <a:txBody>
                    <a:bodyPr/>
                    <a:lstStyle/>
                    <a:p>
                      <a:r>
                        <a:t>硬件产品矩阵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完成机芯、玩偶版本及其他设备规划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已完成</a:t>
                      </a:r>
                    </a:p>
                  </a:txBody>
                  <a:tcPr marL="91440" marR="91440" marT="45720" marB="45720"/>
                </a:tc>
              </a:tr>
              <a:tr h="632732">
                <a:tc>
                  <a:txBody>
                    <a:bodyPr/>
                    <a:lstStyle/>
                    <a:p>
                      <a:r>
                        <a:t>UJM分析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完成fuzozo与小乐用户旅程对比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已完成</a:t>
                      </a:r>
                    </a:p>
                  </a:txBody>
                  <a:tcPr marL="91440" marR="91440" marT="45720" marB="45720"/>
                </a:tc>
              </a:tr>
              <a:tr h="632732">
                <a:tc>
                  <a:txBody>
                    <a:bodyPr/>
                    <a:lstStyle/>
                    <a:p>
                      <a:r>
                        <a:t>智能硬件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完成AI眼镜、智能耳机竞品体验分析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已完成</a:t>
                      </a:r>
                    </a:p>
                  </a:txBody>
                  <a:tcPr marL="91440" marR="91440" marT="45720" marB="45720"/>
                </a:tc>
              </a:tr>
              <a:tr h="632732">
                <a:tc>
                  <a:txBody>
                    <a:bodyPr/>
                    <a:lstStyle/>
                    <a:p>
                      <a:r>
                        <a:t>机器人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完成调研文档撰写并参与相关展会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已完成</a:t>
                      </a:r>
                    </a:p>
                  </a:txBody>
                  <a:tcPr marL="91440" marR="91440" marT="45720" marB="45720"/>
                </a:tc>
              </a:tr>
              <a:tr h="632732">
                <a:tc>
                  <a:txBody>
                    <a:bodyPr/>
                    <a:lstStyle/>
                    <a:p>
                      <a:r>
                        <a:t>对话竞品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完成芷间智伴、涂鸦、fuzozo测试记录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已完成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4525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38E486DB-C2B8-4A09-8549-E2587398B1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3. 重点项目进展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18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D8FD9CB-7061-407D-A634-A763D6A1D08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838200" y="1714500"/>
          <a:ext xmlns:a="http://schemas.openxmlformats.org/drawingml/2006/main" cx="105156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4238625"/>
                <a:gridCol w="2190750"/>
                <a:gridCol w="2657475"/>
              </a:tblGrid>
              <a:tr h="876300">
                <a:tc>
                  <a:txBody>
                    <a:bodyPr/>
                    <a:lstStyle/>
                    <a:p>
                      <a:r>
                        <a:t>项目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8-9月进展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当前状态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下一步</a:t>
                      </a:r>
                    </a:p>
                  </a:txBody>
                  <a:tcPr marL="91440" marR="91440" marT="45720" marB="45720"/>
                </a:tc>
              </a:tr>
              <a:tr h="876300">
                <a:tc>
                  <a:txBody>
                    <a:bodyPr/>
                    <a:lstStyle/>
                    <a:p>
                      <a:r>
                        <a:t>福瑞达V5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PO主导联调，每日跟踪；0904前完成固件提测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因直播及线上版本优化暂缓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10月重启内测并完成验证</a:t>
                      </a:r>
                    </a:p>
                  </a:txBody>
                  <a:tcPr marL="91440" marR="91440" marT="45720" marB="45720"/>
                </a:tc>
              </a:tr>
              <a:tr h="876300">
                <a:tc>
                  <a:txBody>
                    <a:bodyPr/>
                    <a:lstStyle/>
                    <a:p>
                      <a:r>
                        <a:t>直播支持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设备调试、提示词、人设风格、示例对话测试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持续复盘优化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沉淀稳定的人设与对话方案</a:t>
                      </a:r>
                    </a:p>
                  </a:txBody>
                  <a:tcPr marL="91440" marR="91440" marT="45720" marB="45720"/>
                </a:tc>
              </a:tr>
              <a:tr h="876300">
                <a:tc>
                  <a:txBody>
                    <a:bodyPr/>
                    <a:lstStyle/>
                    <a:p>
                      <a:r>
                        <a:t>NFC故事阅读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完成制卡、打样、数据写入与测试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已完成打样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推进内容与交互测试</a:t>
                      </a:r>
                    </a:p>
                  </a:txBody>
                  <a:tcPr marL="91440" marR="91440" marT="45720" marB="45720"/>
                </a:tc>
              </a:tr>
              <a:tr h="876300">
                <a:tc>
                  <a:txBody>
                    <a:bodyPr/>
                    <a:lstStyle/>
                    <a:p>
                      <a:r>
                        <a:t>涂鸦云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小程序SDK接入60%；配网、联网流程打通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数据上报未打通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10月完成对接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4525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38E486DB-C2B8-4A09-8549-E2587398B1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3.1 涂鸦云接入进展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18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D8FD9CB-7061-407D-A634-A763D6A1D08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1190625" y="1857375"/>
          <a:ext xmlns:a="http://schemas.openxmlformats.org/drawingml/2006/main" cx="9525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3ae3657c8047f6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660D67-D6A9-4E11-AB8E-F8B81DA9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当前关键阻塞点：数据上报链路尚未打通；目标在10月完成整体对接</a:t>
            </a:r>
          </a:p>
        </p:txBody>
      </p:sp>
    </p:spTree>
    <p:extLst>
      <p:ext uri="{BB962C8B-B14F-4D97-AF65-F5344CB8AC3E}">
        <p14:creationId xmlns:p14="http://schemas.microsoft.com/office/powerpoint/2010/main" val="39745258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38E486DB-C2B8-4A09-8549-E2587398B1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4. 版本管理与发版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18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D8FD9CB-7061-407D-A634-A763D6A1D08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838200" y="1952625"/>
          <a:ext xmlns:a="http://schemas.openxmlformats.org/drawingml/2006/main" cx="105156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571625"/>
                <a:gridCol w="1571625"/>
                <a:gridCol w="1571625"/>
                <a:gridCol w="2000250"/>
                <a:gridCol w="1990725"/>
              </a:tblGrid>
              <a:tr h="657225">
                <a:tc>
                  <a:txBody>
                    <a:bodyPr/>
                    <a:lstStyle/>
                    <a:p>
                      <a:r>
                        <a:t>固件版本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测试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验收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灰度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全量发布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公告传达</a:t>
                      </a:r>
                    </a:p>
                  </a:txBody>
                  <a:tcPr marL="91440" marR="91440" marT="45720" marB="45720"/>
                </a:tc>
              </a:tr>
              <a:tr h="657225">
                <a:tc>
                  <a:txBody>
                    <a:bodyPr/>
                    <a:lstStyle/>
                    <a:p>
                      <a:r>
                        <a:t>4.8.6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t>4.8.8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t>4.9.1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t>4.9.6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</a:tr>
            </a:tbl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4CEC54-BEA7-40CA-B004-38F73A7C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4个版本均完成测试、验收、灰度、全量发布及版本公告闭环</a:t>
            </a:r>
          </a:p>
        </p:txBody>
      </p:sp>
    </p:spTree>
    <p:extLst>
      <p:ext uri="{BB962C8B-B14F-4D97-AF65-F5344CB8AC3E}">
        <p14:creationId xmlns:p14="http://schemas.microsoft.com/office/powerpoint/2010/main" val="39745258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38E486DB-C2B8-4A09-8549-E2587398B1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5. 硬件产品矩阵规划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18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D8FD9CB-7061-407D-A634-A763D6A1D08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838200" y="1666875"/>
          <a:ext xmlns:a="http://schemas.openxmlformats.org/drawingml/2006/main" cx="10515600" cy="4524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1714500"/>
                <a:gridCol w="3714750"/>
                <a:gridCol w="1952625"/>
                <a:gridCol w="1800225"/>
              </a:tblGrid>
              <a:tr h="646339">
                <a:tc>
                  <a:txBody>
                    <a:bodyPr/>
                    <a:lstStyle/>
                    <a:p>
                      <a:r>
                        <a:t>系列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产品/版本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核心升级方向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Q4节点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参考上市节奏</a:t>
                      </a:r>
                    </a:p>
                  </a:txBody>
                  <a:tcPr marL="91440" marR="91440" marT="45720" marB="45720"/>
                </a:tc>
              </a:tr>
              <a:tr h="646339">
                <a:tc>
                  <a:txBody>
                    <a:bodyPr/>
                    <a:lstStyle/>
                    <a:p>
                      <a:r>
                        <a:t>玩偶本体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小乐V2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NFC、主动攀谈、多人格、多音色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11月上线并优化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11月中旬至12月中旬</a:t>
                      </a:r>
                    </a:p>
                  </a:txBody>
                  <a:tcPr marL="91440" marR="91440" marT="45720" marB="45720"/>
                </a:tc>
              </a:tr>
              <a:tr h="646339">
                <a:tc>
                  <a:txBody>
                    <a:bodyPr/>
                    <a:lstStyle/>
                    <a:p>
                      <a:r>
                        <a:t>玩偶本体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小乐V3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肢体动作、触摸、声纹、NFC换装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12月完成打样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12月中旬至次年1月底</a:t>
                      </a:r>
                    </a:p>
                  </a:txBody>
                  <a:tcPr marL="91440" marR="91440" marT="45720" marB="45720"/>
                </a:tc>
              </a:tr>
              <a:tr h="646339">
                <a:tc>
                  <a:txBody>
                    <a:bodyPr/>
                    <a:lstStyle/>
                    <a:p>
                      <a:r>
                        <a:t>便携系列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小乐包挂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设备记忆、定位查找、触摸反馈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10月完成打样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11月中旬</a:t>
                      </a:r>
                    </a:p>
                  </a:txBody>
                  <a:tcPr marL="91440" marR="91440" marT="45720" marB="45720"/>
                </a:tc>
              </a:tr>
              <a:tr h="646339">
                <a:tc>
                  <a:txBody>
                    <a:bodyPr/>
                    <a:lstStyle/>
                    <a:p>
                      <a:r>
                        <a:t>便携系列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其他IP包挂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IP包挂及来电方案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11月完成打样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11月中旬</a:t>
                      </a:r>
                    </a:p>
                  </a:txBody>
                  <a:tcPr marL="91440" marR="91440" marT="45720" marB="45720"/>
                </a:tc>
              </a:tr>
              <a:tr h="646339">
                <a:tc>
                  <a:txBody>
                    <a:bodyPr/>
                    <a:lstStyle/>
                    <a:p>
                      <a:r>
                        <a:t>探索系列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吧唧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4G对话、跨设备记忆、定位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11月打样，方案二选一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12月中旬</a:t>
                      </a:r>
                    </a:p>
                  </a:txBody>
                  <a:tcPr marL="91440" marR="91440" marT="45720" marB="45720"/>
                </a:tc>
              </a:tr>
              <a:tr h="646339">
                <a:tc>
                  <a:txBody>
                    <a:bodyPr/>
                    <a:lstStyle/>
                    <a:p>
                      <a:r>
                        <a:t>探索系列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AI放大镜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图像回传、多语言对话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12月推进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次年1月底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45258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38E486DB-C2B8-4A09-8549-E2587398B1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6. 四季度 Roadmap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18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D8FD9CB-7061-407D-A634-A763D6A1D08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838200" y="1952625"/>
          <a:ext xmlns:a="http://schemas.openxmlformats.org/drawingml/2006/main" cx="105156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3333750"/>
                <a:gridCol w="2952750"/>
                <a:gridCol w="2800350"/>
              </a:tblGrid>
              <a:tr h="857250">
                <a:tc>
                  <a:txBody>
                    <a:bodyPr/>
                    <a:lstStyle/>
                    <a:p>
                      <a:r>
                        <a:t>月份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硬件产品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软件与平台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关键验收点</a:t>
                      </a:r>
                    </a:p>
                  </a:txBody>
                  <a:tcPr marL="91440" marR="91440" marT="45720" marB="45720"/>
                </a:tc>
              </a:tr>
              <a:tr h="85725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66534"/>
                          </a:solidFill>
                          <a:latin typeface="Arial"/>
                          <a:ea typeface="Arial"/>
                          <a:cs typeface="Arial"/>
                        </a:rPr>
                        <a:t>10月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小乐包挂打样；V5机芯进入打样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完成涂鸦对接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V5机芯验证完成；涂鸦数据链路打通</a:t>
                      </a:r>
                    </a:p>
                  </a:txBody>
                  <a:tcPr marL="91440" marR="91440" marT="45720" marB="45720"/>
                </a:tc>
              </a:tr>
              <a:tr h="85725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66534"/>
                          </a:solidFill>
                          <a:latin typeface="Arial"/>
                          <a:ea typeface="Arial"/>
                          <a:cs typeface="Arial"/>
                        </a:rPr>
                        <a:t>11月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其他款包挂打样；吧唧打样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小乐V2上线与功能优化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吧唧在涂鸦与定制方案中完成选型</a:t>
                      </a:r>
                    </a:p>
                  </a:txBody>
                  <a:tcPr marL="91440" marR="91440" marT="45720" marB="45720"/>
                </a:tc>
              </a:tr>
              <a:tr h="85725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66534"/>
                          </a:solidFill>
                          <a:latin typeface="Arial"/>
                          <a:ea typeface="Arial"/>
                          <a:cs typeface="Arial"/>
                        </a:rPr>
                        <a:t>12月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AI放大镜推进；小乐V3打样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V2小乐功能优化升级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V3完成肢体动作与触摸能力验证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8CA553-25DD-451A-9BB1-7ECEF86A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主线：硬件打样与验证并行推进，小乐版本能力持续迭代</a:t>
            </a:r>
          </a:p>
        </p:txBody>
      </p:sp>
    </p:spTree>
    <p:extLst>
      <p:ext uri="{BB962C8B-B14F-4D97-AF65-F5344CB8AC3E}">
        <p14:creationId xmlns:p14="http://schemas.microsoft.com/office/powerpoint/2010/main" val="3974525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38E486DB-C2B8-4A09-8549-E2587398B1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7. 四季度工作思路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18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D8FD9CB-7061-407D-A634-A763D6A1D08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4400550"/>
            <a:ext cx="10515600" cy="16192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Font typeface="Arial"/>
              <a:buChar char="•"/>
              <a:defRPr sz="15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124"/>
                </a:solidFill>
                <a:latin typeface="Arial"/>
                <a:ea typeface="Arial"/>
                <a:cs typeface="Arial"/>
              </a:rPr>
              <a:t>硬件、固件、服务端与小程序多端协同，提前识别接口和排期依赖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5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124"/>
                </a:solidFill>
                <a:latin typeface="Arial"/>
                <a:ea typeface="Arial"/>
                <a:cs typeface="Arial"/>
              </a:rPr>
              <a:t>线上版本问题优先保障，建立快速定位、验证和回滚机制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5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124"/>
                </a:solidFill>
                <a:latin typeface="Arial"/>
                <a:ea typeface="Arial"/>
                <a:cs typeface="Arial"/>
              </a:rPr>
              <a:t>以月度交付节点为准，持续跟踪打样、验证、上线和复盘闭环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FB7DC0-781D-4201-8695-885A15FA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项目推进机制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838200" y="2095500"/>
          <a:ext xmlns:a="http://schemas.openxmlformats.org/drawingml/2006/main" cx="1051560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095500"/>
                <a:gridCol w="2095500"/>
                <a:gridCol w="2095500"/>
                <a:gridCol w="2133600"/>
              </a:tblGrid>
              <a:tr h="762000">
                <a:tc>
                  <a:txBody>
                    <a:bodyPr/>
                    <a:lstStyle/>
                    <a:p>
                      <a:r>
                        <a:t>目标拆解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方案与排期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联调测试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灰度验证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复盘沉淀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按月明确交付物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绑定负责人和依赖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每日跟踪问题清单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分批验证核心体验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更新Roadmap与规范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AA0C4A-43D5-4116-91A2-BB7B2DCC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重点关注</a:t>
            </a:r>
          </a:p>
        </p:txBody>
      </p:sp>
    </p:spTree>
    <p:extLst>
      <p:ext uri="{BB962C8B-B14F-4D97-AF65-F5344CB8AC3E}">
        <p14:creationId xmlns:p14="http://schemas.microsoft.com/office/powerpoint/2010/main" val="397452589"/>
      </p:ext>
    </p:extLst>
  </p:cSld>
</p:sld>
</file>

<file path=ppt/theme/theme1.xml><?xml version="1.0" encoding="utf-8"?>
<a:theme xmlns:a="http://schemas.openxmlformats.org/drawingml/2006/main" name="企业微信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Tencen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2026-09-30T06:19:47.0940000Z</dcterms:created>
  <dcterms:modified xsi:type="dcterms:W3CDTF">2026-09-30T06:19:47.0950000Z</dcterms:modified>
</coreProperties>
</file>